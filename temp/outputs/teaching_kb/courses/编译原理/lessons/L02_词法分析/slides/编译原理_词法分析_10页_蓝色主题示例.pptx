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编译原理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第 X 讲：词法分析 (Lexical Analysis)</a:t>
            </a:r>
          </a:p>
          <a:p>
            <a:r>
              <a:t>计算机学院 · 2026 学年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本讲内容与课程定位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回顾编译器各阶段与总体结构</a:t>
            </a:r>
          </a:p>
          <a:p>
            <a:pPr>
              <a:defRPr sz="2400"/>
            </a:pPr>
            <a:r>
              <a:t>理解词法分析在编译过程中的位置和作用</a:t>
            </a:r>
          </a:p>
          <a:p>
            <a:pPr>
              <a:defRPr sz="2400"/>
            </a:pPr>
            <a:r>
              <a:t>从源程序字符流到 token 序列的转换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知识：理解词法分析的输入/输出与主要任务</a:t>
            </a:r>
          </a:p>
          <a:p>
            <a:pPr>
              <a:defRPr sz="2400"/>
            </a:pPr>
            <a:r>
              <a:t>知识：掌握 token、lexeme、pattern 等基本概念</a:t>
            </a:r>
          </a:p>
          <a:p>
            <a:pPr>
              <a:defRPr sz="2400"/>
            </a:pPr>
            <a:r>
              <a:t>知识：了解正则表达式与有限自动机在词法分析中的作用</a:t>
            </a:r>
          </a:p>
          <a:p>
            <a:pPr>
              <a:defRPr sz="2400"/>
            </a:pPr>
            <a:r>
              <a:t>能力：能根据简单语言说明写出对应的 token 类型</a:t>
            </a:r>
          </a:p>
          <a:p>
            <a:pPr>
              <a:defRPr sz="2400"/>
            </a:pPr>
            <a:r>
              <a:t>素养：体会形式化描述在编程语言处理中的价值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词法分析的任务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输入：源程序字符流（字母、数字、符号、空白、注释等）</a:t>
            </a:r>
          </a:p>
          <a:p>
            <a:pPr>
              <a:defRPr sz="2400"/>
            </a:pPr>
            <a:r>
              <a:t>输出：单词符号序列（token 流），如 &lt;ID,name&gt; &lt;ASSIGN,=&gt; &lt;NUM,3&gt; 等</a:t>
            </a:r>
          </a:p>
          <a:p>
            <a:pPr>
              <a:defRPr sz="2400"/>
            </a:pPr>
            <a:r>
              <a:t>任务：识别关键字、标识符、常量、运算符、分隔符</a:t>
            </a:r>
          </a:p>
          <a:p>
            <a:pPr>
              <a:defRPr sz="2400"/>
            </a:pPr>
            <a:r>
              <a:t>任务：跳过空白和注释，报告部分词法错误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关键术语：token / lexeme /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Token（单词符号）：一类词法单元，如 IDENTIFIER, NUMBER, IF 等</a:t>
            </a:r>
          </a:p>
          <a:p>
            <a:pPr>
              <a:defRPr sz="2400"/>
            </a:pPr>
            <a:r>
              <a:t>Lexeme（词素）：实际出现的字符串实例，如 sum, a, 3, if</a:t>
            </a:r>
          </a:p>
          <a:p>
            <a:pPr>
              <a:defRPr sz="2400"/>
            </a:pPr>
            <a:r>
              <a:t>Pattern（模式）：描述一类 token 的规则，如 letter(letter|digit)*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用正则表达式描述词法规则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正则表达式用于形式化描述一类字符串集合</a:t>
            </a:r>
          </a:p>
          <a:p>
            <a:pPr>
              <a:defRPr sz="2400"/>
            </a:pPr>
            <a:r>
              <a:t>基本运算：连接 ab，或 a|b，闭包 a*，正闭包 a+</a:t>
            </a:r>
          </a:p>
          <a:p>
            <a:pPr>
              <a:defRPr sz="2400"/>
            </a:pPr>
            <a:r>
              <a:t>示例：标识符 = letter(letter|digit)*；整数 = digit+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有限自动机（FA）的直观理解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自动机：读入字符，沿状态转换走，最终接受或拒绝一个字符串</a:t>
            </a:r>
          </a:p>
          <a:p>
            <a:pPr>
              <a:defRPr sz="2400"/>
            </a:pPr>
            <a:r>
              <a:t>可将词法分析器视为若干自动机的实现</a:t>
            </a:r>
          </a:p>
          <a:p>
            <a:pPr>
              <a:defRPr sz="2400"/>
            </a:pPr>
            <a:r>
              <a:t>根据当前状态和下一个字符，决定继续/结束/报错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例题：从源代码到 token 序列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示例代码：while (i &lt; 10) { sum = sum + i; i = i + 1; }</a:t>
            </a:r>
          </a:p>
          <a:p>
            <a:pPr>
              <a:defRPr sz="2400"/>
            </a:pPr>
            <a:r>
              <a:t>任务：写出对应的 token 类型序列（如 WHILE ( ID RELOP NUM ) …）</a:t>
            </a:r>
          </a:p>
          <a:p>
            <a:pPr>
              <a:defRPr sz="2400"/>
            </a:pPr>
            <a:r>
              <a:t>思考：关键字 while 与标识符的区别？</a:t>
            </a:r>
          </a:p>
          <a:p>
            <a:pPr>
              <a:defRPr sz="2400"/>
            </a:pPr>
            <a:r>
              <a:t>思考：&lt;= 应视为一个 token 还是两个？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词法错误与处理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常见错误：非法字符、非法常量、未闭合字符串或注释</a:t>
            </a:r>
          </a:p>
          <a:p>
            <a:pPr>
              <a:defRPr sz="2400"/>
            </a:pPr>
            <a:r>
              <a:t>处理策略：跳过错误字符并继续扫描</a:t>
            </a:r>
          </a:p>
          <a:p>
            <a:pPr>
              <a:defRPr sz="2400"/>
            </a:pPr>
            <a:r>
              <a:t>处理策略：报告行号和上下文，帮助定位错误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本讲小结与思考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词法分析：输入字符流，输出 token 流</a:t>
            </a:r>
          </a:p>
          <a:p>
            <a:pPr>
              <a:defRPr sz="2400"/>
            </a:pPr>
            <a:r>
              <a:t>掌握 token / lexeme / pattern 的关系</a:t>
            </a:r>
          </a:p>
          <a:p>
            <a:pPr>
              <a:defRPr sz="2400"/>
            </a:pPr>
            <a:r>
              <a:t>正则表达式与自动机为词法分析提供形式化基础</a:t>
            </a:r>
          </a:p>
          <a:p>
            <a:pPr>
              <a:defRPr sz="2400"/>
            </a:pPr>
            <a:r>
              <a:t>思考：哪些语言特性不能仅用正则表达式描述？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