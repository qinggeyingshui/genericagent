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各基准任务准确率对比(%)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固定Prompt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HotpotQA</c:v>
                </c:pt>
                <c:pt idx="1">
                  <c:v>GSM8K</c:v>
                </c:pt>
                <c:pt idx="2">
                  <c:v>MMLU</c:v>
                </c:pt>
                <c:pt idx="3">
                  <c:v>ALFWorld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62.3</c:v>
                </c:pt>
                <c:pt idx="1">
                  <c:v>55.1</c:v>
                </c:pt>
                <c:pt idx="2">
                  <c:v>70.2</c:v>
                </c:pt>
                <c:pt idx="3">
                  <c:v>48.6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随机搜索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HotpotQA</c:v>
                </c:pt>
                <c:pt idx="1">
                  <c:v>GSM8K</c:v>
                </c:pt>
                <c:pt idx="2">
                  <c:v>MMLU</c:v>
                </c:pt>
                <c:pt idx="3">
                  <c:v>ALFWorld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65.8</c:v>
                </c:pt>
                <c:pt idx="1">
                  <c:v>58.4</c:v>
                </c:pt>
                <c:pt idx="2">
                  <c:v>72.1</c:v>
                </c:pt>
                <c:pt idx="3">
                  <c:v>52.3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MASPOB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Sheet1!$A$2:$A$5</c:f>
              <c:strCache>
                <c:ptCount val="4"/>
                <c:pt idx="0">
                  <c:v>HotpotQA</c:v>
                </c:pt>
                <c:pt idx="1">
                  <c:v>GSM8K</c:v>
                </c:pt>
                <c:pt idx="2">
                  <c:v>MMLU</c:v>
                </c:pt>
                <c:pt idx="3">
                  <c:v>ALFWorld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74.1</c:v>
                </c:pt>
                <c:pt idx="1">
                  <c:v>68.9</c:v>
                </c:pt>
                <c:pt idx="2">
                  <c:v>79.3</c:v>
                </c:pt>
                <c:pt idx="3">
                  <c:v>63.2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样本效率对比(评估次数 vs 准确率%)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随机搜索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20次</c:v>
                </c:pt>
                <c:pt idx="1">
                  <c:v>40次</c:v>
                </c:pt>
                <c:pt idx="2">
                  <c:v>60次</c:v>
                </c:pt>
                <c:pt idx="3">
                  <c:v>80次</c:v>
                </c:pt>
                <c:pt idx="4">
                  <c:v>100次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55.2</c:v>
                </c:pt>
                <c:pt idx="1">
                  <c:v>58.1</c:v>
                </c:pt>
                <c:pt idx="2">
                  <c:v>60.3</c:v>
                </c:pt>
                <c:pt idx="3">
                  <c:v>61.8</c:v>
                </c:pt>
                <c:pt idx="4">
                  <c:v>62.9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贪心优化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20次</c:v>
                </c:pt>
                <c:pt idx="1">
                  <c:v>40次</c:v>
                </c:pt>
                <c:pt idx="2">
                  <c:v>60次</c:v>
                </c:pt>
                <c:pt idx="3">
                  <c:v>80次</c:v>
                </c:pt>
                <c:pt idx="4">
                  <c:v>100次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58.3</c:v>
                </c:pt>
                <c:pt idx="1">
                  <c:v>62.5</c:v>
                </c:pt>
                <c:pt idx="2">
                  <c:v>65.1</c:v>
                </c:pt>
                <c:pt idx="3">
                  <c:v>67.4</c:v>
                </c:pt>
                <c:pt idx="4">
                  <c:v>68.5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MASPOB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20次</c:v>
                </c:pt>
                <c:pt idx="1">
                  <c:v>40次</c:v>
                </c:pt>
                <c:pt idx="2">
                  <c:v>60次</c:v>
                </c:pt>
                <c:pt idx="3">
                  <c:v>80次</c:v>
                </c:pt>
                <c:pt idx="4">
                  <c:v>100次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62.1</c:v>
                </c:pt>
                <c:pt idx="1">
                  <c:v>67.4</c:v>
                </c:pt>
                <c:pt idx="2">
                  <c:v>70.8</c:v>
                </c:pt>
                <c:pt idx="3">
                  <c:v>73.2</c:v>
                </c:pt>
                <c:pt idx="4">
                  <c:v>74.1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图神经网络与大语言模型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BDD7EE"/>
                </a:solidFill>
              </a:rPr>
              <a:t>L01  GNN与LLM联合架构导论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论文: MASPOB — Bandit Prompt Optimization for MAS with GNN |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建议学时: 2学时  |  授课对象: 研究生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教学目标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1  理解GNN基本概念与消息传播机制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11274552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2  了解LLM在多智能体MAS中的角色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11274552" cy="109728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3  掌握GNN+LLM结合核心动机：结构化关系+语言理解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166359"/>
            <a:ext cx="11274552" cy="1097280"/>
          </a:xfrm>
          <a:prstGeom prst="rect">
            <a:avLst/>
          </a:prstGeom>
          <a:solidFill>
            <a:srgbClr val="17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4  描述MASPOB框架工作流程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课程大纲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34440"/>
            <a:ext cx="3657600" cy="246888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9280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图神经网络基础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节点/边/消息传递/GCN/GAT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234440"/>
            <a:ext cx="3657600" cy="24688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3441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9280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LLM在多智能体中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514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Agent=LLM+Prompt;工作流固定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3657600" cy="246888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441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9280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MASPOB框架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14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Bandit+GNN三步闭环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840480"/>
            <a:ext cx="3657600" cy="2468880"/>
          </a:xfrm>
          <a:prstGeom prst="rect">
            <a:avLst/>
          </a:prstGeom>
          <a:solidFill>
            <a:srgbClr val="17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502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988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实验结果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性能提升与样本效率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840480"/>
            <a:ext cx="3657600" cy="2468880"/>
          </a:xfrm>
          <a:prstGeom prst="rect">
            <a:avLst/>
          </a:prstGeom>
          <a:solidFill>
            <a:srgbClr val="17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9502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4988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架构展望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120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三种GNN+LLM范式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840480"/>
            <a:ext cx="3657600" cy="2468880"/>
          </a:xfrm>
          <a:prstGeom prst="rect">
            <a:avLst/>
          </a:prstGeom>
          <a:solidFill>
            <a:srgbClr val="17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502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49884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练习与总结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DD7EE"/>
                </a:solidFill>
              </a:rPr>
              <a:t>思考题与要点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01  图神经网络基础回顾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98B"/>
                </a:solidFill>
              </a:rPr>
              <a:t>图的基本元素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5486400" cy="777240"/>
          </a:xfrm>
          <a:prstGeom prst="rect">
            <a:avLst/>
          </a:prstGeom>
          <a:solidFill>
            <a:srgbClr val="DAE8F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8B"/>
                </a:solidFill>
              </a:rPr>
              <a:t>节点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642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</a:rPr>
              <a:t>Agents/概念/实体；特征向量h_v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14600"/>
            <a:ext cx="5486400" cy="777240"/>
          </a:xfrm>
          <a:prstGeom prst="rect">
            <a:avLst/>
          </a:prstGeom>
          <a:solidFill>
            <a:srgbClr val="DAE8F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8B"/>
                </a:solidFill>
              </a:rPr>
              <a:t>边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5786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</a:rPr>
              <a:t>依赖/交互；可加权有向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29000"/>
            <a:ext cx="5486400" cy="777240"/>
          </a:xfrm>
          <a:prstGeom prst="rect">
            <a:avLst/>
          </a:prstGeom>
          <a:solidFill>
            <a:srgbClr val="DAE8F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93008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98B"/>
                </a:solidFill>
              </a:rPr>
              <a:t>图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49300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</a:rPr>
              <a:t>G=(V,E,X)；结构+特征联合表示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498B"/>
                </a:solidFill>
              </a:rPr>
              <a:t>消息传递机制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600200"/>
            <a:ext cx="57607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8B"/>
                </a:solidFill>
              </a:rPr>
              <a:t>h_v^(l+1)=UPDATE(h_v^(l), AGG({h_u^(l):u in N(v)}))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AGG:Mean/Max/Sum/Attn | UPDATE:MLP/GRU | l层=l跳感受野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3657600" cy="201168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GCN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谱域均值聚合,简单高效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4572000"/>
            <a:ext cx="3657600" cy="20116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663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GAT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257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注意力权重,可解释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572000"/>
            <a:ext cx="3657600" cy="201168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663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GraphSAGE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52578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归纳式,支持未见节点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02  LLM在多智能体系统中的角色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560320" cy="347472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3474720"/>
          </a:xfrm>
          <a:prstGeom prst="rect">
            <a:avLst/>
          </a:prstGeom>
          <a:solidFill>
            <a:srgbClr val="256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Researcher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检索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560320" cy="3474720"/>
          </a:xfrm>
          <a:prstGeom prst="rect">
            <a:avLst/>
          </a:prstGeom>
          <a:solidFill>
            <a:srgbClr val="7B3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Writer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188720"/>
            <a:ext cx="2560320" cy="3474720"/>
          </a:xfrm>
          <a:prstGeom prst="rect">
            <a:avLst/>
          </a:prstGeom>
          <a:solidFill>
            <a:srgbClr val="4A0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2801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Reviewer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审核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03  MASPOB框架精读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743200" cy="320040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Step1 GNN编码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对MAS图编码生成节点向量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188720"/>
            <a:ext cx="2743200" cy="3200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25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Step2 Bandit选择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UCB/Thompson平衡探索利用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743200" cy="3200400"/>
          </a:xfrm>
          <a:prstGeom prst="rect">
            <a:avLst/>
          </a:prstGeom>
          <a:solidFill>
            <a:srgbClr val="256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25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Step3 评估执行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运行候选Prompt获取反馈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188720"/>
            <a:ext cx="2743200" cy="3200400"/>
          </a:xfrm>
          <a:prstGeom prst="rect">
            <a:avLst/>
          </a:prstGeom>
          <a:solidFill>
            <a:srgbClr val="175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3258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Step4 迭代更新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D7EE"/>
                </a:solidFill>
              </a:rPr>
              <a:t>更新参数收敛最优Prompt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04  实验结果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109728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0" y="128016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05  GNN+LLM联合架构展望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411480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范式一 GNN辅助LLM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结构化检索+知识图谱+RAG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188720"/>
            <a:ext cx="3657600" cy="4114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325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范式二 LLM辅助GNN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自然语言特征生成冷启动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657600" cy="411480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范式三 深度融合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2860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联合训练端到端MASPOB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06  课堂练习与总结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00200"/>
            <a:ext cx="10972800" cy="1234440"/>
          </a:xfrm>
          <a:prstGeom prst="rect">
            <a:avLst/>
          </a:prstGeom>
          <a:solidFill>
            <a:srgbClr val="DAE8F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Q1 为什么随机搜索优化MAS Prompt效果差？GNN如何解决？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10972800" cy="1234440"/>
          </a:xfrm>
          <a:prstGeom prst="rect">
            <a:avLst/>
          </a:prstGeom>
          <a:solidFill>
            <a:srgbClr val="DAE8F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Q2 Bandit算法解决什么问题？UCB与Thompson各有何优缺点？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434840"/>
            <a:ext cx="10972800" cy="1234440"/>
          </a:xfrm>
          <a:prstGeom prst="rect">
            <a:avLst/>
          </a:prstGeom>
          <a:solidFill>
            <a:srgbClr val="DAE8FC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</a:rPr>
              <a:t>Q3 举例GNN辅助LLM与LLM辅助GNN范式应用场景区别。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DD7EE"/>
                </a:solidFill>
              </a:rPr>
              <a:t>GNN + LLM = 结构感知 x 语言理解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DD7EE"/>
                </a:solidFill>
              </a:rPr>
              <a:t>MASPOB | arXiv:2603.02630v1 | Zhi Hong et al.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下次课: GNN变体深度解析 GCN/GAT/GraphSAGE代码实现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