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知识点数量</c:v>
                </c:pt>
              </c:strCache>
            </c:strRef>
          </c:tx>
          <c:dPt>
            <c:idx val="0"/>
            <c:spPr>
              <a:solidFill>
                <a:srgbClr val="1D2974"/>
              </a:solidFill>
            </c:spPr>
          </c:dPt>
          <c:dPt>
            <c:idx val="1"/>
            <c:spPr>
              <a:solidFill>
                <a:srgbClr val="8A97E2"/>
              </a:solidFill>
            </c:spPr>
          </c:dPt>
          <c:dPt>
            <c:idx val="2"/>
            <c:spPr>
              <a:solidFill>
                <a:srgbClr val="AA71E2"/>
              </a:solidFill>
            </c:spPr>
          </c:dPt>
          <c:dPt>
            <c:idx val="3"/>
            <c:spPr>
              <a:solidFill>
                <a:srgbClr val="FFE483"/>
              </a:solidFill>
            </c:spPr>
          </c:dPt>
          <c:cat>
            <c:strRef>
              <c:f>Sheet1!$A$2:$A$5</c:f>
              <c:strCache>
                <c:ptCount val="4"/>
                <c:pt idx="0">
                  <c:v>导入</c:v>
                </c:pt>
                <c:pt idx="1">
                  <c:v>新课讲解</c:v>
                </c:pt>
                <c:pt idx="2">
                  <c:v>课堂练习</c:v>
                </c:pt>
                <c:pt idx="3">
                  <c:v>课堂小结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657600" cy="6858000"/>
          </a:xfrm>
          <a:prstGeom prst="round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0440" y="0"/>
            <a:ext cx="137160" cy="68580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7068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黑体"/>
              </a:defRPr>
            </a:pPr>
            <a:r>
              <a:t>编译原理概述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3200400"/>
            <a:ext cx="27432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3474720"/>
            <a:ext cx="7068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79A"/>
                </a:solidFill>
                <a:latin typeface="等线"/>
              </a:defRPr>
            </a:pPr>
            <a:r>
              <a:t>编译原理 | L01 | 2 学时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教学大纲</a:t>
            </a:r>
          </a:p>
        </p:txBody>
      </p:sp>
      <p:sp>
        <p:nvSpPr>
          <p:cNvPr id="4" name="Oval 3"/>
          <p:cNvSpPr/>
          <p:nvPr/>
        </p:nvSpPr>
        <p:spPr>
          <a:xfrm>
            <a:off x="3931920" y="1207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教学内容概述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92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重点与难点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578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578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导入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32644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新课讲解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39502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课堂练习</a:t>
            </a:r>
          </a:p>
        </p:txBody>
      </p:sp>
      <p:sp>
        <p:nvSpPr>
          <p:cNvPr id="19" name="Oval 18"/>
          <p:cNvSpPr/>
          <p:nvPr/>
        </p:nvSpPr>
        <p:spPr>
          <a:xfrm>
            <a:off x="3931920" y="4636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636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课堂小结</a:t>
            </a:r>
          </a:p>
        </p:txBody>
      </p:sp>
      <p:sp>
        <p:nvSpPr>
          <p:cNvPr id="22" name="Oval 21"/>
          <p:cNvSpPr/>
          <p:nvPr/>
        </p:nvSpPr>
        <p:spPr>
          <a:xfrm>
            <a:off x="3931920" y="5321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03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作业布置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📋 教学流程总览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0710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1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🚀 环节1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87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导入（2 个要点）</a:t>
            </a:r>
          </a:p>
        </p:txBody>
      </p:sp>
      <p:sp>
        <p:nvSpPr>
          <p:cNvPr id="8" name="Oval 7"/>
          <p:cNvSpPr/>
          <p:nvPr/>
        </p:nvSpPr>
        <p:spPr>
          <a:xfrm>
            <a:off x="4521708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47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📖 环节2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33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新课讲解（5 个要点）</a:t>
            </a:r>
          </a:p>
        </p:txBody>
      </p:sp>
      <p:sp>
        <p:nvSpPr>
          <p:cNvPr id="11" name="Oval 10"/>
          <p:cNvSpPr/>
          <p:nvPr/>
        </p:nvSpPr>
        <p:spPr>
          <a:xfrm>
            <a:off x="7036308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93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✏️ 环节3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79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课堂练习（2 个要点）</a:t>
            </a:r>
          </a:p>
        </p:txBody>
      </p:sp>
      <p:sp>
        <p:nvSpPr>
          <p:cNvPr id="14" name="Oval 13"/>
          <p:cNvSpPr/>
          <p:nvPr/>
        </p:nvSpPr>
        <p:spPr>
          <a:xfrm>
            <a:off x="9550908" y="3493008"/>
            <a:ext cx="329184" cy="329184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39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79A"/>
                </a:solidFill>
                <a:latin typeface="黑体"/>
              </a:defRPr>
            </a:pPr>
            <a:r>
              <a:t>💬 环节4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25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课堂小结（2 个要点）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274552" y="594360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003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003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5910" y="1920240"/>
            <a:ext cx="731520" cy="73152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591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034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0345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理解编译器在软件开发中的核心地位与作用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6140" y="1645920"/>
            <a:ext cx="24003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6140" y="1645920"/>
            <a:ext cx="24003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40530" y="1920240"/>
            <a:ext cx="731520" cy="73152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053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9020" y="2788920"/>
            <a:ext cx="2034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9020" y="3154680"/>
            <a:ext cx="20345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掌握编译过程的基本阶段划分（词法、语法、语义、中间代码、优化、目标代码）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645920"/>
            <a:ext cx="24003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400300" cy="54864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15150" y="1920240"/>
            <a:ext cx="731520" cy="731520"/>
          </a:xfrm>
          <a:prstGeom prst="ellipse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515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88920"/>
            <a:ext cx="2034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54680"/>
            <a:ext cx="20345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了解解释器与编译器的区别与联系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5380" y="1645920"/>
            <a:ext cx="24003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55380" y="1645920"/>
            <a:ext cx="24003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9770" y="1920240"/>
            <a:ext cx="731520" cy="7315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977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8260" y="2788920"/>
            <a:ext cx="2034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8260" y="3154680"/>
            <a:ext cx="20345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建立对本课程学习路线的整体认知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📊 课程数据概览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59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5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E483"/>
                </a:solidFill>
                <a:latin typeface="黑体"/>
              </a:defRPr>
            </a:pPr>
            <a: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5140" y="3383280"/>
            <a:ext cx="731520" cy="36576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知识要点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黑体"/>
              </a:defRPr>
            </a:pPr>
            <a:r>
              <a:t>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9740" y="3383280"/>
            <a:ext cx="731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教学重点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教学内容概述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什么是编译器：从源程序到目标程序的翻译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编译器的历史与发展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编译过程的六个阶段概览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编译器与解释器的对比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编译器在现代软件工程中的应用（JIT、LLVM、语言设计）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教学重点与难点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25796" cy="64008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🔑 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编译过程六个阶段的功能与相互关系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71600"/>
            <a:ext cx="5225796" cy="640080"/>
          </a:xfrm>
          <a:prstGeom prst="round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4516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⚠️ 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4516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理解前端与后端的划分及各阶段的输入输出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🚀 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1 环节 · 共 2 个要点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🚀 导入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5400000">
            <a:off x="11274552" y="-18288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A97E2"/>
                </a:solidFill>
                <a:latin typeface="Arial"/>
              </a:defRPr>
            </a:pPr>
            <a:r>
              <a:t>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011680"/>
            <a:ext cx="98115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A97E2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011680"/>
            <a:ext cx="73152" cy="18288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9262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💡 提问：我们每天写的代码是如何变成可执行程序的？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10177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✦ 🌟 展示一段 C 语言代码从源文件到可执行文件的完整流程。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📖 新课讲解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2 环节 · 共 5 个要点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📖 新课讲解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📌 编译器的定义与分类（单遍/多遍、交叉编译器等）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🔹 编译的六个阶段：词法分析→语法分析→语义分析→中间代码生成→代码优化→目标代码生成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📐 符号表管理与错误处理贯穿全过程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🧩 前端（源语言相关）与后端（目标机器相关）的划分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📊 解释器 vs 编译器：执行方式、性能、适用场景对比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✏️ 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3 环节 · 共 2 个要点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✏️ 课堂练习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457432" y="6126480"/>
            <a:ext cx="914400" cy="91440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591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68780"/>
            <a:ext cx="457200" cy="45720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87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9628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974"/>
                </a:solidFill>
                <a:latin typeface="黑体"/>
              </a:defRPr>
            </a:pPr>
            <a:r>
              <a:t>给定一个简单赋值语句 `a = b + c * 2`，尝试描述其经过各编译阶段的变化。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72591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583180"/>
            <a:ext cx="457200" cy="4572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831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560320"/>
            <a:ext cx="9628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974"/>
                </a:solidFill>
                <a:latin typeface="黑体"/>
              </a:defRPr>
            </a:pPr>
            <a:r>
              <a:t>讨论：Python 是编译型还是解释型语言？为什么？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📋 课堂小结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4 环节 · 共 2 个要点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📋 课堂小结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⭐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回顾编译器的六个阶段及其核心功能。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94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🔑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预告下节课内容：词法分析的详细原理。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📝 作业布置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457432" y="6126480"/>
            <a:ext cx="914400" cy="91440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591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68780"/>
            <a:ext cx="457200" cy="45720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87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9628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974"/>
                </a:solidFill>
                <a:latin typeface="黑体"/>
              </a:defRPr>
            </a:pPr>
            <a:r>
              <a:t>阅读教材第一章，总结编译器各阶段的输入与输出。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72591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583180"/>
            <a:ext cx="457200" cy="4572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831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560320"/>
            <a:ext cx="9628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974"/>
                </a:solidFill>
                <a:latin typeface="黑体"/>
              </a:defRPr>
            </a:pPr>
            <a:r>
              <a:t>调研一种现代编译器（如 GCC、Clang、javac），简述其架构特点。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📊 教学内容分布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508760"/>
          <a:ext cx="1017727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4C4D7"/>
                </a:solidFill>
                <a:latin typeface="等线"/>
              </a:defRPr>
            </a:pPr>
            <a:r>
              <a:t>编译原理 - 编译原理概述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