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cat>
            <c:strRef>
              <c:f>Sheet1!$A$2:$A$5</c:f>
              <c:strCache>
                <c:ptCount val="4"/>
                <c:pt idx="0">
                  <c:v>导入与回顾（10分钟）</c:v>
                </c:pt>
                <c:pt idx="1">
                  <c:v>图的数学基础（20分钟）</c:v>
                </c:pt>
                <c:pt idx="2">
                  <c:v>图卷积网络（GCN）推导（25分钟）</c:v>
                </c:pt>
                <c:pt idx="3">
                  <c:v>课堂小结与预告（10分钟）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图神经网络基础（图结构定义、消息传递框架、GCN推导）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图神经网络与大语言模型 | L02 | 2学时（100分钟）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导入与回顾（10分钟）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图的数学基础（20分钟）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MPNN消息传递框架（20分钟）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图卷积网络（GCN）推导（25分钟）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GCN变体速览（15分钟）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GNN在LLM中的接口设计（10分钟）</a:t>
            </a:r>
          </a:p>
        </p:txBody>
      </p:sp>
      <p:sp>
        <p:nvSpPr>
          <p:cNvPr id="25" name="Oval 24"/>
          <p:cNvSpPr/>
          <p:nvPr/>
        </p:nvSpPr>
        <p:spPr>
          <a:xfrm>
            <a:off x="3931920" y="6007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6007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989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课堂小结与预告（10分钟）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8265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337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897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导入与回顾（10分钟）（3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2905179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8251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6811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图的数学基础（20分钟）（6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4342093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5165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725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MPNN消息传递框架（20分钟）（教学环节）</a:t>
            </a:r>
          </a:p>
        </p:txBody>
      </p:sp>
      <p:sp>
        <p:nvSpPr>
          <p:cNvPr id="14" name="Oval 13"/>
          <p:cNvSpPr/>
          <p:nvPr/>
        </p:nvSpPr>
        <p:spPr>
          <a:xfrm>
            <a:off x="5779007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图卷积网络（GCN）推导（25分钟）（3 个要点）</a:t>
            </a:r>
          </a:p>
        </p:txBody>
      </p:sp>
      <p:sp>
        <p:nvSpPr>
          <p:cNvPr id="17" name="Oval 16"/>
          <p:cNvSpPr/>
          <p:nvPr/>
        </p:nvSpPr>
        <p:spPr>
          <a:xfrm>
            <a:off x="7215921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8993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7553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GCN变体速览（15分钟）（教学环节）</a:t>
            </a:r>
          </a:p>
        </p:txBody>
      </p:sp>
      <p:sp>
        <p:nvSpPr>
          <p:cNvPr id="20" name="Oval 19"/>
          <p:cNvSpPr/>
          <p:nvPr/>
        </p:nvSpPr>
        <p:spPr>
          <a:xfrm>
            <a:off x="8652835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5907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🔬 环节6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4467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GNN在LLM中的接口设计（10分钟）（教学环节）</a:t>
            </a:r>
          </a:p>
        </p:txBody>
      </p:sp>
      <p:sp>
        <p:nvSpPr>
          <p:cNvPr id="23" name="Oval 22"/>
          <p:cNvSpPr/>
          <p:nvPr/>
        </p:nvSpPr>
        <p:spPr>
          <a:xfrm>
            <a:off x="10089749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2821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🎯 环节7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1381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课堂小结与预告（10分钟）（5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掌握图的数学定义：邻接矩阵、度矩阵、图拉普拉斯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理解消息传递神经网络（MPNN）统一框架及三步骤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能够推导GCN层间传播公式并理解其谱域含义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理解GCN与GAT、GraphSAGE的差异及适用场景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关联L01：识别MASPOB中GNN模块如何对MAS工作流图编码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MPNN三步骤统一理解；GCN传播公式推导（谱域→K=1简化）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谱域到空域的数学跨越；加自环的必要性；直推式vs归纳式学习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3 个要点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药物发现：分子=图（原子=节点，化学键=边），预测药效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推荐系统：用户-物品交互=二部图，预测评分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代码分析：AST/调用图=有向图，预测漏洞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图的数学基础（20分钟）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6 个要点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图的数学基础（20分钟）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邻接矩阵 A∈{0,1}^(N×N)：A_ij=1当且仅当(i,j)∈E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度矩阵 D：对角阵，D_ii=sum_j A_ij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图拉普拉斯 L=D-A；归一化版 L_hat=I-D^(-1/2)AD^(-1/2)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图像：规则网格，邻居数固定=8，平移不变性成立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图数据：不规则，邻居数可变，无固定顺序 → CNN不适用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GNN设计原则：聚合函数必须对节点排列置换不变（permutation invariant）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MPNN消息传递框架（20分钟）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图卷积网络（GCN）推导（25分钟）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3 个要点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图卷积网络（GCN）推导（25分钟）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GNN编码层 = GCN变体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Agent i的表示 = 自身prompt语义嵌入 + 下游依赖Agent信息聚合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拓扑感知表示 → Bandit打分时自动感知全局依赖结构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GCN变体速览（15分钟）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GNN在LLM中的接口设计（10分钟）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课堂小结与预告（10分钟）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7 环节 · 共 5 个要点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课堂小结与预告（10分钟）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⭐ 图=(V,E,X)，三矩阵：邻接/度/拉普拉斯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🔑 MPNN统一框架：MESSAGE → AGGREGATE →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💎 GCN=谱域K=1简化+对称归一化+自环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📍 变体：GAT（注意力）/ GraphSAGE（归纳）/ GIN（表达力上界）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🏆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图神经网络与大语言模型 - 图神经网络基础（图结构定义、消息传递框架、GCN推导）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