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cat>
            <c:strRef>
              <c:f>Sheet1!$A$2:$A$3</c:f>
              <c:strCache>
                <c:ptCount val="2"/>
                <c:pt idx="0">
                  <c:v>导入与回顾（10分钟）</c:v>
                </c:pt>
                <c:pt idx="1">
                  <c:v>可扩展GNN：三类采样策略（25分钟）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图神经网络前沿（Scalable GNN、异质图、时序GNN、大规模部署）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图神经网络与大语言模型 | L05 | 2学时（100分钟）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重点与难点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导入与回顾（10分钟）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可扩展GNN：三类采样策略（25分钟）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异质图神经网络（20分钟）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时序图神经网络（20分钟）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工业级部署（10分钟）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综合案例与练习（10分钟）</a:t>
            </a:r>
          </a:p>
        </p:txBody>
      </p:sp>
      <p:sp>
        <p:nvSpPr>
          <p:cNvPr id="25" name="Oval 24"/>
          <p:cNvSpPr/>
          <p:nvPr/>
        </p:nvSpPr>
        <p:spPr>
          <a:xfrm>
            <a:off x="3931920" y="6007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6007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989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与LLM结合的前沿方向（5分钟）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8265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337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897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导入与回顾（10分钟）（3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2905179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8251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6811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可扩展GNN：三类采样策略（25分钟）（3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4342093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5165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725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异质图神经网络（20分钟）（教学环节）</a:t>
            </a:r>
          </a:p>
        </p:txBody>
      </p:sp>
      <p:sp>
        <p:nvSpPr>
          <p:cNvPr id="14" name="Oval 13"/>
          <p:cNvSpPr/>
          <p:nvPr/>
        </p:nvSpPr>
        <p:spPr>
          <a:xfrm>
            <a:off x="5779007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时序图神经网络（20分钟）（教学环节）</a:t>
            </a:r>
          </a:p>
        </p:txBody>
      </p:sp>
      <p:sp>
        <p:nvSpPr>
          <p:cNvPr id="17" name="Oval 16"/>
          <p:cNvSpPr/>
          <p:nvPr/>
        </p:nvSpPr>
        <p:spPr>
          <a:xfrm>
            <a:off x="7215921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8993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7553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工业级部署（10分钟）（教学环节）</a:t>
            </a:r>
          </a:p>
        </p:txBody>
      </p:sp>
      <p:sp>
        <p:nvSpPr>
          <p:cNvPr id="20" name="Oval 19"/>
          <p:cNvSpPr/>
          <p:nvPr/>
        </p:nvSpPr>
        <p:spPr>
          <a:xfrm>
            <a:off x="8652835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5907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🔬 环节6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4467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综合案例与练习（10分钟）（教学环节）</a:t>
            </a:r>
          </a:p>
        </p:txBody>
      </p:sp>
      <p:sp>
        <p:nvSpPr>
          <p:cNvPr id="23" name="Oval 22"/>
          <p:cNvSpPr/>
          <p:nvPr/>
        </p:nvSpPr>
        <p:spPr>
          <a:xfrm>
            <a:off x="10089749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2821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🎯 环节7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1381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与LLM结合的前沿方向（5分钟）（教学环节）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理解大规模图训练的核心挑战（邻域爆炸、内存瓶颈、通信开销）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掌握三类可扩展采样策略：节点采样/子图采样/重要性采样的原理与权衡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理解异质图建模范式：元路径、HAN、HGT模型核心设计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掌握时序GNN两类框架：离散快照TGNN与连续事件TGNN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了解工业级GNN部署策略：在线推理、增量训练、特征缓存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0" y="3657600"/>
            <a:ext cx="3200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15400" y="393192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关联L01-L04：在大规模MAS场景中选型合适的前沿GNN变体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59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5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351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B0"/>
                </a:solidFill>
                <a:latin typeface="黑体"/>
              </a:defRPr>
            </a:pPr>
            <a: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49740" y="3383280"/>
            <a:ext cx="73152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566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教学重点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教学重点与难点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25796" cy="640080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🔑 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三类采样策略的方差偏差权衡；HGT异质注意力机制；TGN记忆模块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71600"/>
            <a:ext cx="5225796" cy="640080"/>
          </a:xfrm>
          <a:prstGeom prst="round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4516" y="146304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黑体"/>
              </a:defRPr>
            </a:pPr>
            <a:r>
              <a:t>⚠️ 难点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4516" y="2194560"/>
            <a:ext cx="48600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等线"/>
              </a:defRPr>
            </a:pPr>
            <a:r>
              <a:t>• 连续时间动态图的时间编码原理；工业部署的系统级优化思维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3 个要点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导入与回顾（10分钟）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微信社交图：10亿用户节点，需要实时推荐，如何训练GNN？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学术引用网络：作者/论文/期刊三类节点，如何建模异质关系？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金融交易图：每秒数万笔交易，如何捕捉时序异常模式？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可扩展GNN：三类采样策略（25分钟）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3 个要点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可扩展GNN：三类采样策略（25分钟）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GraphSAGE：节点邻居粒度，有偏，适用于归纳学习和新节点实时推断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Cluster-GCN：子图粒度，跨簇有偏，适用于同质密集图的高效训练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GraphSAINT：加权子图粒度，无偏，适用于高精度需求的通用场景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异质图神经网络（20分钟）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时序图神经网络（20分钟）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工业级部署（10分钟）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综合案例与练习（10分钟）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与LLM结合的前沿方向（5分钟）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图神经网络与大语言模型 - 图神经网络前沿（Scalable GNN、异质图、时序GNN、大规模部署）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