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知识点数量</c:v>
                </c:pt>
              </c:strCache>
            </c:strRef>
          </c:tx>
          <c:dPt>
            <c:idx val="0"/>
            <c:spPr>
              <a:solidFill>
                <a:srgbClr val="1D2974"/>
              </a:solidFill>
            </c:spPr>
          </c:dPt>
          <c:dPt>
            <c:idx val="1"/>
            <c:spPr>
              <a:solidFill>
                <a:srgbClr val="8A97E2"/>
              </a:solidFill>
            </c:spPr>
          </c:dPt>
          <c:dPt>
            <c:idx val="2"/>
            <c:spPr>
              <a:solidFill>
                <a:srgbClr val="AA71E2"/>
              </a:solidFill>
            </c:spPr>
          </c:dPt>
          <c:dPt>
            <c:idx val="3"/>
            <c:spPr>
              <a:solidFill>
                <a:srgbClr val="FFE483"/>
              </a:solidFill>
            </c:spPr>
          </c:dPt>
          <c:dPt>
            <c:idx val="4"/>
            <c:spPr>
              <a:solidFill>
                <a:srgbClr val="26379A"/>
              </a:solidFill>
            </c:spPr>
          </c:dPt>
          <c:dPt>
            <c:idx val="5"/>
            <c:spPr>
              <a:solidFill>
                <a:srgbClr val="1D2974"/>
              </a:solidFill>
            </c:spPr>
          </c:dPt>
          <c:cat>
            <c:strRef>
              <c:f>Sheet1!$A$2:$A$7</c:f>
              <c:strCache>
                <c:ptCount val="6"/>
                <c:pt idx="0">
                  <c:v>第一阶段：复习与导入（15分钟）</c:v>
                </c:pt>
                <c:pt idx="1">
                  <c:v>第二阶段：正则表达式讲解（25分钟）</c:v>
                </c:pt>
                <c:pt idx="2">
                  <c:v>第三阶段：NFA与Thompson构造（35分钟）</c:v>
                </c:pt>
                <c:pt idx="3">
                  <c:v>第四阶段：子集构造法（40分钟）</c:v>
                </c:pt>
                <c:pt idx="4">
                  <c:v>第五阶段：DFA最小化概述（15分钟）</c:v>
                </c:pt>
                <c:pt idx="5">
                  <c:v>第六阶段：课堂小结（10分钟）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4FB"/>
            </a:gs>
            <a:gs pos="100000">
              <a:srgbClr val="FFFFFF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657600" cy="6858000"/>
          </a:xfrm>
          <a:prstGeom prst="round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20440" y="0"/>
            <a:ext cx="137160" cy="685800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6693408"/>
            <a:ext cx="8531352" cy="16459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0683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黑体"/>
              </a:defRPr>
            </a:pPr>
            <a:r>
              <a:t>自动机理论与DFA构造（正则表达式、NFA、DFA子集构造法）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200400"/>
            <a:ext cx="27432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3474720"/>
            <a:ext cx="7068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6379A"/>
                </a:solidFill>
                <a:latin typeface="等线"/>
              </a:defRPr>
            </a:pPr>
            <a:r>
              <a:t>编译原理 | L03 | 3 学时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教学大纲</a:t>
            </a:r>
          </a:p>
        </p:txBody>
      </p:sp>
      <p:sp>
        <p:nvSpPr>
          <p:cNvPr id="4" name="Oval 3"/>
          <p:cNvSpPr/>
          <p:nvPr/>
        </p:nvSpPr>
        <p:spPr>
          <a:xfrm>
            <a:off x="3931920" y="1207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77640" y="1207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188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教学内容概述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892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第一阶段：复习与导入（15分钟）</a:t>
            </a:r>
          </a:p>
        </p:txBody>
      </p:sp>
      <p:sp>
        <p:nvSpPr>
          <p:cNvPr id="10" name="Oval 9"/>
          <p:cNvSpPr/>
          <p:nvPr/>
        </p:nvSpPr>
        <p:spPr>
          <a:xfrm>
            <a:off x="3931920" y="2578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578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第二阶段：正则表达式讲解（25分钟）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32644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32644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第三阶段：NFA与Thompson构造（35分钟）</a:t>
            </a:r>
          </a:p>
        </p:txBody>
      </p:sp>
      <p:sp>
        <p:nvSpPr>
          <p:cNvPr id="16" name="Oval 15"/>
          <p:cNvSpPr/>
          <p:nvPr/>
        </p:nvSpPr>
        <p:spPr>
          <a:xfrm>
            <a:off x="3931920" y="39502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第四阶段：子集构造法（40分钟）</a:t>
            </a:r>
          </a:p>
        </p:txBody>
      </p:sp>
      <p:sp>
        <p:nvSpPr>
          <p:cNvPr id="19" name="Oval 18"/>
          <p:cNvSpPr/>
          <p:nvPr/>
        </p:nvSpPr>
        <p:spPr>
          <a:xfrm>
            <a:off x="3931920" y="46360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46360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第五阶段：DFA最小化概述（15分钟）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53218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40" y="53218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3035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第六阶段：课堂小结（10分钟）</a:t>
            </a:r>
          </a:p>
        </p:txBody>
      </p:sp>
      <p:sp>
        <p:nvSpPr>
          <p:cNvPr id="25" name="Oval 24"/>
          <p:cNvSpPr/>
          <p:nvPr/>
        </p:nvSpPr>
        <p:spPr>
          <a:xfrm>
            <a:off x="3931920" y="6007608"/>
            <a:ext cx="411480" cy="41148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60076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989320"/>
            <a:ext cx="6976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黑体"/>
              </a:defRPr>
            </a:pPr>
            <a:r>
              <a:t>作业布置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📋 教学流程总览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0058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880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10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🚀 环节1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第一阶段：复习与导入（15分钟）（4 个要点）</a:t>
            </a:r>
          </a:p>
        </p:txBody>
      </p:sp>
      <p:sp>
        <p:nvSpPr>
          <p:cNvPr id="8" name="Oval 7"/>
          <p:cNvSpPr/>
          <p:nvPr/>
        </p:nvSpPr>
        <p:spPr>
          <a:xfrm>
            <a:off x="3264408" y="3493008"/>
            <a:ext cx="329184" cy="329184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A97E2"/>
                </a:solidFill>
                <a:latin typeface="黑体"/>
              </a:defRPr>
            </a:pPr>
            <a:r>
              <a:t>📖 环节2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第二阶段：正则表达式讲解（25分钟）（4 个要点）</a:t>
            </a:r>
          </a:p>
        </p:txBody>
      </p:sp>
      <p:sp>
        <p:nvSpPr>
          <p:cNvPr id="11" name="Oval 10"/>
          <p:cNvSpPr/>
          <p:nvPr/>
        </p:nvSpPr>
        <p:spPr>
          <a:xfrm>
            <a:off x="4940808" y="3493008"/>
            <a:ext cx="329184" cy="329184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38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A71E2"/>
                </a:solidFill>
                <a:latin typeface="黑体"/>
              </a:defRPr>
            </a:pPr>
            <a:r>
              <a:t>✏️ 环节3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24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第三阶段：NFA与Thompson构造（35分钟）（5 个要点）</a:t>
            </a:r>
          </a:p>
        </p:txBody>
      </p:sp>
      <p:sp>
        <p:nvSpPr>
          <p:cNvPr id="14" name="Oval 13"/>
          <p:cNvSpPr/>
          <p:nvPr/>
        </p:nvSpPr>
        <p:spPr>
          <a:xfrm>
            <a:off x="6617208" y="3493008"/>
            <a:ext cx="329184" cy="329184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02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379A"/>
                </a:solidFill>
                <a:latin typeface="黑体"/>
              </a:defRPr>
            </a:pPr>
            <a:r>
              <a:t>💬 环节4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88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第四阶段：子集构造法（40分钟）（7 个要点）</a:t>
            </a:r>
          </a:p>
        </p:txBody>
      </p:sp>
      <p:sp>
        <p:nvSpPr>
          <p:cNvPr id="17" name="Oval 16"/>
          <p:cNvSpPr/>
          <p:nvPr/>
        </p:nvSpPr>
        <p:spPr>
          <a:xfrm>
            <a:off x="8293608" y="3493008"/>
            <a:ext cx="329184" cy="329184"/>
          </a:xfrm>
          <a:prstGeom prst="ellipse">
            <a:avLst/>
          </a:prstGeom>
          <a:solidFill>
            <a:srgbClr val="84C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4C4D7"/>
                </a:solidFill>
                <a:latin typeface="黑体"/>
              </a:defRPr>
            </a:pPr>
            <a:r>
              <a:t>📋 环节5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4688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第五阶段：DFA最小化概述（15分钟）（3 个要点）</a:t>
            </a:r>
          </a:p>
        </p:txBody>
      </p:sp>
      <p:sp>
        <p:nvSpPr>
          <p:cNvPr id="20" name="Oval 19"/>
          <p:cNvSpPr/>
          <p:nvPr/>
        </p:nvSpPr>
        <p:spPr>
          <a:xfrm>
            <a:off x="9970008" y="3493008"/>
            <a:ext cx="329184" cy="329184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3080" y="4023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🔬 环节6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1640" y="44805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0000"/>
                </a:solidFill>
                <a:latin typeface="等线"/>
              </a:defRPr>
            </a:pPr>
            <a:r>
              <a:t>第六阶段：课堂小结（10分钟）（3 个要点）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11274552" y="5943600"/>
            <a:ext cx="1097280" cy="109728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1645920"/>
            <a:ext cx="731520" cy="73152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掌握正则表达式的基本语法与构造规则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3200400" cy="54864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731520" cy="73152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理解非确定有限自动机（NFA）的定义与运行机制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371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371600"/>
            <a:ext cx="3200400" cy="54864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45920"/>
            <a:ext cx="731520" cy="731520"/>
          </a:xfrm>
          <a:prstGeom prst="ellipse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514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掌握从正则表达式到NFA的Thompson构造算法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320040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6596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掌握NFA到DFA的子集构造法（Subset Construction）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20040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40680" y="393192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理解DFA最小化的基本思路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3657600"/>
            <a:ext cx="32004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80960" y="3657600"/>
            <a:ext cx="3200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915400" y="3931920"/>
            <a:ext cx="731520" cy="7315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3931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黑体"/>
              </a:defRPr>
            </a:pPr>
            <a: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2974"/>
                </a:solidFill>
                <a:latin typeface="黑体"/>
              </a:defRPr>
            </a:pPr>
            <a:r>
              <a:t>目标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166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379A"/>
                </a:solidFill>
                <a:latin typeface="等线"/>
              </a:defRPr>
            </a:pPr>
            <a:r>
              <a:t>能够手工推导简单语言的DFA并验证其正确性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5F7FA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D2974"/>
                </a:solidFill>
                <a:latin typeface="黑体"/>
              </a:defRPr>
            </a:pPr>
            <a:r>
              <a:t>📊 课程数据概览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457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35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D2974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25040" y="3383280"/>
            <a:ext cx="731520" cy="36576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35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2194560"/>
            <a:ext cx="335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A97E2"/>
                </a:solidFill>
                <a:latin typeface="黑体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383280"/>
            <a:ext cx="731520" cy="36576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7200" y="3566160"/>
            <a:ext cx="335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教学环节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2194560"/>
            <a:ext cx="335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E483"/>
                </a:solidFill>
                <a:latin typeface="黑体"/>
              </a:defRPr>
            </a:pPr>
            <a:r>
              <a:t>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0640" y="3383280"/>
            <a:ext cx="731520" cy="36576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0" y="3566160"/>
            <a:ext cx="335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79A"/>
                </a:solidFill>
                <a:latin typeface="等线"/>
              </a:defRPr>
            </a:pPr>
            <a:r>
              <a:t>知识要点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870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教学内容概述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正则表达式的形式化定义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基本运算：连接（·）、选择（|）、闭包（*）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扩展运算：+（一次或多次）、?（零次或一次）、字符类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正则表达式与正则语言的对应关系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常见编程语言中词法规则的正则表达式描述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有限自动机（FA）的直观理解：状态机模型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确定有限自动机（DFA）的五元组定义：(Σ, Q, q0, F, δ)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217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6217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6263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DFA的状态转移图与转移表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903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6903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949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DFA识别语言的过程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7589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7589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7635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非确定有限自动机（NFA）的定义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8275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8275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8321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NFA与DFA的区别：ε转移与多值转移函数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8961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8961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9006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NFA的ε闭包（ε-closure）概念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9646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9646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9692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基本结构的NFA构造：空串ε、单字符a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10332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10332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" y="10378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复合结构的NFA构造：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11018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11018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11064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连接：N(r1)·N(r2)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11704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20" y="11704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" y="11750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选择：N(r1)|N(r2)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12390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20" y="12390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" y="12435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闭包：N(r)*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13075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1520" y="13075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" y="13121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Thompson构造的性质：单一起始态、单一终态、状态数与边数估计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13761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31520" y="13761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" y="13807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完整示例：从 (a|b)*abb 构造NFA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1520" y="14447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" y="14447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" y="14493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算法核心思想：DFA的每个状态对应NFA状态的一个子集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15133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1520" y="15133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" y="15179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ε-closure(T) 的计算方法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15819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15819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15864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move(T, a) 的定义：从集合T经字符a可达的NFA状态集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16504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" y="16504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0120" y="16550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子集构造算法流程（Subset Construction Algorithm）：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" y="17190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" y="17190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0120" y="17236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接受状态的判定：含NFA终态的子集为DFA接受状态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17876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" y="17876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0120" y="17922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完整示例：将 (a|b)*abb 的NFA转换为DFA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" y="18562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1520" y="18562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0120" y="18608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为什么需要最小化：减少状态数提升效率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19248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31520" y="19248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0120" y="19293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等价状态的直观概念：对所有输入串行为一致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31520" y="19933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31520" y="19933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60120" y="19979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划分算法（Partition Refinement）基本思路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1520" y="20619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31520" y="20619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0120" y="20665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最小化前后DFA状态数对比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第一阶段：复习与导入（15分钟）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1 环节 · 共 4 个要点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第一阶段：复习与导入（15分钟）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💡 回顾L02词法分析的整体流程：源码→词法分析器→Token流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🌟 提问：词法分析器如何知道一个字符串是不是合法标识符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❓ 引出：正则表达式是描述词法规则的标准形式，自动机是实现识别的计算模型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🎬 类比：正则表达式如同菜谱，NFA是按步骤操作的厨师，DFA是记住所有状态的流水线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第二阶段：正则表达式讲解（25分钟）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2 环节 · 共 4 个要点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第二阶段：正则表达式讲解（25分钟）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板书：正则表达式三种基本运算的形式化定义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举例：标识符 [a-zA-Z_][a-zA-Z0-9_]*，整数字面量 [0-9]+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互动练习：请学生写出以a开头以b结尾中间任意字符的正则表达式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强调：正则表达式描述的是语言即字符串集合，不是具体的字符串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第三阶段：NFA与Thompson构造（35分钟）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3 环节 · 共 5 个要点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第三阶段：NFA与Thompson构造（35分钟）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用状态转移图直观展示NFA的非确定性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演示ε-closure的计算过程，在黑板上逐步推导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Thompson构造法逐步讲解：从简单子表达式开始，逐步组合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在黑板上完整画出 (a|b)*abb 的NFA约11个状态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关键点：Thompson NFA每个节点最多2条ε转移或1条字符转移，结构规整便于实现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第四阶段：子集构造法（40分钟）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4 环节 · 共 7 个要点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第四阶段：子集构造法（40分钟）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引入问题：NFA不确定性如何在程序中高效实现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解答：用子集构造将NFA的可能状态集显式化为DFA的确定状态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黑板推导：将 (a|b)*abb 的NFA一步步转为DFA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54864" cy="612648"/>
          </a:xfrm>
          <a:prstGeom prst="rect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5204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★ 列出ε-closure({s0})={s0,s1,s2,s3,s7}，依次计算move(...,a)和move(...,b)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54864" cy="612648"/>
          </a:xfrm>
          <a:prstGeom prst="rect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► 绘制DFA转移表约5个状态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46320"/>
            <a:ext cx="54864" cy="612648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92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▸ 课堂练习：给定简单NFA学生自行完成子集构造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32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532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讲解接受状态判定规则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第五阶段：DFA最小化概述（15分钟）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5 环节 · 共 3 个要点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第五阶段：DFA最小化概述（15分钟）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▸ 展示一个有冗余状态的DFA示例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◆ 直观讲解划分算法：先分接受非接受两组，再细化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● 强调：最小化保证词法分析器运行效率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6B"/>
            </a:gs>
            <a:gs pos="100000">
              <a:srgbClr val="2D6BB0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黑体"/>
              </a:defRPr>
            </a:pPr>
            <a:r>
              <a:t>📌 第六阶段：课堂小结（10分钟）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4C4D7"/>
                </a:solidFill>
                <a:latin typeface="等线"/>
              </a:defRPr>
            </a:pPr>
            <a:r>
              <a:t>第 6 环节 · 共 3 个要点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📌 第六阶段：课堂小结（10分钟）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0" y="62179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64465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6675120"/>
            <a:ext cx="109728" cy="109728"/>
          </a:xfrm>
          <a:prstGeom prst="ellipse">
            <a:avLst/>
          </a:prstGeom>
          <a:solidFill>
            <a:srgbClr val="8A97E2">
              <a:lumMod val="40000"/>
              <a:lumOff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10725912" cy="612648"/>
          </a:xfrm>
          <a:prstGeom prst="round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4630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等线"/>
              </a:defRPr>
            </a:pPr>
            <a:r>
              <a:t>⭐ 梳理知识链：正则表达式→Thompson构造→NFA→子集构造→DFA→最小化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031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103120"/>
            <a:ext cx="54864" cy="612648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🔑 预告下节课：词法分析器自动生成工具Lex/Flex的使用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72591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54864" cy="612648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等线"/>
              </a:defRPr>
            </a:pPr>
            <a:r>
              <a:t>💎 布置作业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BFC"/>
            </a:gs>
            <a:gs pos="100000">
              <a:srgbClr val="EEF2F7"/>
            </a:gs>
          </a:gsLst>
          <a:lin scaled="1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📝 作业布置</a:t>
            </a:r>
          </a:p>
        </p:txBody>
      </p:sp>
      <p:sp>
        <p:nvSpPr>
          <p:cNvPr id="5" name="Right Triangle 4"/>
          <p:cNvSpPr/>
          <p:nvPr/>
        </p:nvSpPr>
        <p:spPr>
          <a:xfrm rot="10800000">
            <a:off x="11457432" y="6126480"/>
            <a:ext cx="914400" cy="914400"/>
          </a:xfrm>
          <a:prstGeom prst="rtTriangl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59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68780"/>
            <a:ext cx="457200" cy="457200"/>
          </a:xfrm>
          <a:prstGeom prst="ellipse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87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9628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974"/>
                </a:solidFill>
                <a:latin typeface="黑体"/>
              </a:defRPr>
            </a:pPr>
            <a:r>
              <a:t>由0和1组成，且以00结尾的二进制串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23160"/>
            <a:ext cx="10725912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583180"/>
            <a:ext cx="457200" cy="4572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831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560320"/>
            <a:ext cx="9628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2974"/>
                </a:solidFill>
                <a:latin typeface="黑体"/>
              </a:defRPr>
            </a:pPr>
            <a:r>
              <a:t>C语言中的浮点数字面量（含小数点，可带正负号）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97280"/>
          </a:xfrm>
          <a:prstGeom prst="rect">
            <a:avLst/>
          </a:prstGeom>
          <a:solidFill>
            <a:srgbClr val="FFE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黑体"/>
              </a:defRPr>
            </a:pPr>
            <a:r>
              <a:t>📊 教学内容分布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508760"/>
          <a:ext cx="1017727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63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8A9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2743200" cy="2743200"/>
          </a:xfrm>
          <a:prstGeom prst="ellipse">
            <a:avLst/>
          </a:prstGeom>
          <a:solidFill>
            <a:srgbClr val="AA7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4C4D7"/>
                </a:solidFill>
                <a:latin typeface="等线"/>
              </a:defRPr>
            </a:pPr>
            <a:r>
              <a:t>编译原理 - 自动机理论与DFA构造（正则表达式、NFA、DFA子集构造法）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