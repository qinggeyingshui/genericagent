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657600" cy="6858000"/>
          </a:xfrm>
          <a:prstGeom prst="round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0440" y="0"/>
            <a:ext cx="137160" cy="68580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7068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黑体"/>
              </a:defRPr>
            </a:pPr>
            <a:r>
              <a:t>编译原理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3200400"/>
            <a:ext cx="27432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3474720"/>
            <a:ext cx="7068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79A"/>
                </a:solidFill>
                <a:latin typeface="等线"/>
              </a:defRPr>
            </a:pPr>
            <a:r>
              <a:t>Principles of Compilers —— 从源代码到目标代码的完整旅程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目录 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3931920" y="1207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编译器概述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92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词法分析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578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578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语法分析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32644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语义分析与代码生成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274552" y="594360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编译器的六大阶段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645920"/>
            <a:ext cx="731520" cy="73152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词法分析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将字符流转换为Token序列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2004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0680" y="1645920"/>
            <a:ext cx="731520" cy="73152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语法分析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构建抽象语法树(AST)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371600"/>
            <a:ext cx="3200400" cy="54864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45920"/>
            <a:ext cx="731520" cy="731520"/>
          </a:xfrm>
          <a:prstGeom prst="ellipse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语义分析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类型检查与语义验证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3200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5960" y="3931920"/>
            <a:ext cx="731520" cy="7315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中间代码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生成三地址码等IR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2004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40680" y="393192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代码优化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消除冗余提升性能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80960" y="3657600"/>
            <a:ext cx="3200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15400" y="393192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目标代码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生成机器码或汇编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词法分析 Lexical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5912" cy="54864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087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核心任务：将源程序字符流分割为有意义的 Token（词法单元）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正则表达式（RE）：描述 Token 的模式规则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5912" cy="54864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69748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有限自动机（FA）：NFA → DFA 转换实现高效匹配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工具实践：Lex / Flex 自动生成词法分析器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关键概念：词素(Lexeme)、模式(Pattern)、词法单元(Token)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错误处理：恐慌模式恢复 —— 跳过非法字符继续扫描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语法分析：两大策略对比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25796" cy="64008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🔽 自顶向下分析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从开始符号出发推导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递归下降分析法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LL(1) 文法 + 预测分析表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直观易理解，手写方便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需消除左递归和回溯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371600"/>
            <a:ext cx="5225796" cy="640080"/>
          </a:xfrm>
          <a:prstGeom prst="round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🔼 自底向上分析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从输入符号归约到开始符号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269748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移进-归约分析法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516" y="320040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LR(0) / SLR / LALR / LR(1)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370332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能力更强，处理更多文法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2062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工具 Yacc/Bison 自动生成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上下文无关文法 CFG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5912" cy="54864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087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四元组 G = (V, T, P, S)：变量集、终结符集、产生式集、开始符号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推导：最左推导 vs 最右推导（规范推导）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9748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语法树（Parse Tree）：推导过程的图形化表示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725912" cy="54864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二义性文法：同一句子存在两棵不同的语法树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消除二义性：优先级规则、结合性约定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BNF 范式：产生式的标准书写形式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编译过程全景：源码到可执行文件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845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53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源代码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9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程序员编写的高级语言代码 (.c / .java)</a:t>
            </a:r>
          </a:p>
        </p:txBody>
      </p:sp>
      <p:sp>
        <p:nvSpPr>
          <p:cNvPr id="8" name="Oval 7"/>
          <p:cNvSpPr/>
          <p:nvPr/>
        </p:nvSpPr>
        <p:spPr>
          <a:xfrm>
            <a:off x="2635758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883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预处理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739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宏展开、头文件包含、条件编译</a:t>
            </a:r>
          </a:p>
        </p:txBody>
      </p:sp>
      <p:sp>
        <p:nvSpPr>
          <p:cNvPr id="11" name="Oval 10"/>
          <p:cNvSpPr/>
          <p:nvPr/>
        </p:nvSpPr>
        <p:spPr>
          <a:xfrm>
            <a:off x="3893058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613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词法分析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469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字符流 → Token 序列</a:t>
            </a:r>
          </a:p>
        </p:txBody>
      </p:sp>
      <p:sp>
        <p:nvSpPr>
          <p:cNvPr id="14" name="Oval 13"/>
          <p:cNvSpPr/>
          <p:nvPr/>
        </p:nvSpPr>
        <p:spPr>
          <a:xfrm>
            <a:off x="5150358" y="3493008"/>
            <a:ext cx="329184" cy="329184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343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79A"/>
                </a:solidFill>
                <a:latin typeface="黑体"/>
              </a:defRPr>
            </a:pPr>
            <a:r>
              <a:t>语法分析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199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Token → 抽象语法树 (AST)</a:t>
            </a:r>
          </a:p>
        </p:txBody>
      </p:sp>
      <p:sp>
        <p:nvSpPr>
          <p:cNvPr id="17" name="Oval 16"/>
          <p:cNvSpPr/>
          <p:nvPr/>
        </p:nvSpPr>
        <p:spPr>
          <a:xfrm>
            <a:off x="6407658" y="3493008"/>
            <a:ext cx="329184" cy="329184"/>
          </a:xfrm>
          <a:prstGeom prst="ellipse">
            <a:avLst/>
          </a:prstGeom>
          <a:solidFill>
            <a:srgbClr val="84C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073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4C4D7"/>
                </a:solidFill>
                <a:latin typeface="黑体"/>
              </a:defRPr>
            </a:pPr>
            <a:r>
              <a:t>语义分析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929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类型检查 + 符号表管理</a:t>
            </a:r>
          </a:p>
        </p:txBody>
      </p:sp>
      <p:sp>
        <p:nvSpPr>
          <p:cNvPr id="20" name="Oval 19"/>
          <p:cNvSpPr/>
          <p:nvPr/>
        </p:nvSpPr>
        <p:spPr>
          <a:xfrm>
            <a:off x="766495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803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中间代码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659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AST → 三地址码 / SSA</a:t>
            </a:r>
          </a:p>
        </p:txBody>
      </p:sp>
      <p:sp>
        <p:nvSpPr>
          <p:cNvPr id="23" name="Oval 22"/>
          <p:cNvSpPr/>
          <p:nvPr/>
        </p:nvSpPr>
        <p:spPr>
          <a:xfrm>
            <a:off x="8922258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533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389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常量折叠、死代码消除、循环优化</a:t>
            </a:r>
          </a:p>
        </p:txBody>
      </p:sp>
      <p:sp>
        <p:nvSpPr>
          <p:cNvPr id="26" name="Oval 25"/>
          <p:cNvSpPr/>
          <p:nvPr/>
        </p:nvSpPr>
        <p:spPr>
          <a:xfrm>
            <a:off x="10179558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263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目标代码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119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寄存器分配 → 汇编/机器码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语义分析与中间代码生成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5912" cy="54864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087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语法制导翻译（SDT）：为文法规则附加语义动作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属性文法：综合属性（S属性）↑ 与 继承属性（L属性）↓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9748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符号表：记录标识符的类型、作用域、存储位置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类型检查：静态类型系统的核心 —— 类型等价与类型转换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4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中间表示(IR)：三地址码、四元式、DAG图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725912" cy="54864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10451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SSA 形式：静态单赋值 —— 现代编译器优化的基础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编译技术的影响力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59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核心编译阶段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70+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5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年发展历史(1957~)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E483"/>
                </a:solidFill>
                <a:latin typeface="黑体"/>
              </a:defRPr>
            </a:pPr>
            <a:r>
              <a:t>GCC/LLVM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5140" y="3383280"/>
            <a:ext cx="731520" cy="36576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主流开源编译器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黑体"/>
              </a:defRPr>
            </a:pPr>
            <a:r>
              <a:t>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9740" y="3383280"/>
            <a:ext cx="731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每天编译的代码行数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4C4D7"/>
                </a:solidFill>
                <a:latin typeface="等线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