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2.bin" ContentType="image/png"/>
  <Override PartName="/ppt/slideLayouts/slideLayout4.xml" ContentType="application/vnd.openxmlformats-officedocument.presentationml.slideLayout+xml"/>
  <Override PartName="/ppt/media/image3.bin" ContentType="image/png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media/image8.bin" ContentType="image/png"/>
  <Override PartName="/ppt/media/image9.bin" ContentType="image/png"/>
  <Override PartName="/ppt/media/image10.bin" ContentType="image/png"/>
  <Override PartName="/ppt/media/image11.bin" ContentType="image/png"/>
  <Override PartName="/ppt/slideLayouts/tags/tag1.xml" ContentType="application/vnd.openxmlformats-officedocument.presentationml.tags+xml"/>
  <Override PartName="/ppt/slideLayouts/tags/tag2.xml" ContentType="application/vnd.openxmlformats-officedocument.presentationml.tags+xml"/>
  <Override PartName="/ppt/slideLayouts/tags/tag3.xml" ContentType="application/vnd.openxmlformats-officedocument.presentationml.tags+xml"/>
  <Override PartName="/ppt/slideLayouts/tags/tag4.xml" ContentType="application/vnd.openxmlformats-officedocument.presentationml.tags+xml"/>
  <Override PartName="/ppt/slideLayouts/tags/tag5.xml" ContentType="application/vnd.openxmlformats-officedocument.presentationml.tags+xml"/>
  <Override PartName="/ppt/slideLayouts/tags/tag6.xml" ContentType="application/vnd.openxmlformats-officedocument.presentationml.tags+xml"/>
  <Override PartName="/ppt/slideLayouts/tags/tag7.xml" ContentType="application/vnd.openxmlformats-officedocument.presentationml.tags+xml"/>
  <Override PartName="/ppt/slideLayouts/tags/tag8.xml" ContentType="application/vnd.openxmlformats-officedocument.presentationml.tags+xml"/>
  <Override PartName="/ppt/slides/slide1.xml" ContentType="application/vnd.openxmlformats-officedocument.presentationml.slide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image12.bin" ContentType="image/png"/>
  <Override PartName="/ppt/media/image13.bin" ContentType="image/png"/>
  <Override PartName="/ppt/slides/slide4.xml" ContentType="application/vnd.openxmlformats-officedocument.presentationml.slide+xml"/>
  <Override PartName="/ppt/media/image14.bin" ContentType="image/png"/>
  <Override PartName="/ppt/media/image15.bin" ContentType="image/png"/>
  <Override PartName="/ppt/slides/slide5.xml" ContentType="application/vnd.openxmlformats-officedocument.presentationml.slide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6.bin" ContentType="image/png"/>
  <Override PartName="/ppt/media/image17.bin" ContentType="image/png"/>
  <Override PartName="/ppt/slides/slide8.xml" ContentType="application/vnd.openxmlformats-officedocument.presentationml.slide+xml"/>
  <Override PartName="/ppt/media/image18.bin" ContentType="image/png"/>
  <Override PartName="/ppt/media/image19.bin" ContentType="image/png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slide9.xml" ContentType="application/vnd.openxmlformats-officedocument.presentationml.slide+xml"/>
  <Override PartName="/ppt/media/image20.bin" ContentType="image/png"/>
  <Override PartName="/ppt/slides/slide10.xml" ContentType="application/vnd.openxmlformats-officedocument.presentationml.slide+xml"/>
  <Override PartName="/ppt/media/image21.bin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22.bin" ContentType="image/png"/>
  <Override PartName="/ppt/media/image23.bin" ContentType="image/png"/>
  <Override PartName="/ppt/media/image24.bin" ContentType="image/png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media/image25.bin" ContentType="image/png"/>
  <Override PartName="/ppt/media/image26.bin" ContentType="image/png"/>
  <Override PartName="/ppt/slides/slide15.xml" ContentType="application/vnd.openxmlformats-officedocument.presentationml.slide+xml"/>
  <Override PartName="/ppt/media/image27.bin" ContentType="image/png"/>
  <Override PartName="/ppt/slides/slide16.xml" ContentType="application/vnd.openxmlformats-officedocument.presentationml.slide+xml"/>
  <Override PartName="/ppt/media/image28.bin" ContentType="image/png"/>
  <Override PartName="/ppt/slides/slide17.xml" ContentType="application/vnd.openxmlformats-officedocument.presentationml.slide+xml"/>
  <Override PartName="/ppt/media/image29.bin" ContentType="image/png"/>
  <Override PartName="/ppt/media/image30.bin" ContentType="image/pn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31.bin" ContentType="image/png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slide20.xml" ContentType="application/vnd.openxmlformats-officedocument.presentationml.slide+xml"/>
  <Override PartName="/ppt/media/image32.bin" ContentType="image/png"/>
  <Override PartName="/ppt/media/image33.bin" ContentType="image/png"/>
  <Override PartName="/ppt/slides/slide21.xml" ContentType="application/vnd.openxmlformats-officedocument.presentationml.slide+xml"/>
  <Override PartName="/ppt/media/image34.bin" ContentType="image/png"/>
  <Override PartName="/ppt/media/image35.bin" ContentType="image/png"/>
  <Override PartName="/ppt/media/image36.bin" ContentType="image/png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slides/slide22.xml" ContentType="application/vnd.openxmlformats-officedocument.presentationml.slide+xml"/>
  <Override PartName="/ppt/media/image37.bin" ContentType="image/png"/>
  <Override PartName="/ppt/media/image38.bin" ContentType="image/png"/>
  <Override PartName="/ppt/notesSlides/notesSlide1.xml" ContentType="application/vnd.openxmlformats-officedocument.presentationml.notesSlide+xml"/>
  <Override PartName="/ppt/slides/slide23.xml" ContentType="application/vnd.openxmlformats-officedocument.presentationml.slide+xml"/>
  <Override PartName="/ppt/media/image39.bin" ContentType="image/png"/>
  <Override PartName="/ppt/slides/slide24.xml" ContentType="application/vnd.openxmlformats-officedocument.presentationml.slide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slide25.xml" ContentType="application/vnd.openxmlformats-officedocument.presentationml.slide+xml"/>
  <Override PartName="/ppt/media/image41.bin" ContentType="image/png"/>
  <Override PartName="/ppt/media/image42.bin" ContentType="image/pn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45.bin" ContentType="image/png"/>
  <Override PartName="/ppt/media/image46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media/image48.bin" ContentType="image/png"/>
  <Override PartName="/ppt/media/image49.bin" ContentType="image/png"/>
  <Override PartName="/ppt/media/image50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2bb546377e34492" /><Relationship Type="http://schemas.openxmlformats.org/package/2006/relationships/metadata/core-properties" Target="/docProps/core.xml" Id="R109ecc283b8447e5" /><Relationship Type="http://schemas.openxmlformats.org/officeDocument/2006/relationships/extended-properties" Target="/docProps/app.xml" Id="R8b64d62e6d8d49a0" /><Relationship Type="http://schemas.openxmlformats.org/officeDocument/2006/relationships/custom-properties" Target="/docProps/custom.xml" Id="R7f865ed71e6c480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70a69111c5b24ef5"/>
  </p:sldMasterIdLst>
  <p:notesMasterIdLst>
    <p:notesMasterId r:id="Rd94ee02c9be041ae"/>
  </p:notesMasterIdLst>
  <p:handoutMasterIdLst>
    <p:handoutMasterId r:id="R8a092fdf7714438b"/>
  </p:handoutMasterIdLst>
  <p:sldIdLst>
    <p:sldId id="256" r:id="Rf1b4619e2d334b3e"/>
    <p:sldId id="257" r:id="R0b3fe0e92dd942e1"/>
    <p:sldId id="258" r:id="Rd9e939622c1045ee"/>
    <p:sldId id="259" r:id="R7c7878d9812c41d5"/>
    <p:sldId id="260" r:id="Rfc4b7cd1b1844f17"/>
    <p:sldId id="261" r:id="R1c473f31b5814065"/>
    <p:sldId id="262" r:id="R4b15e2829fee4f38"/>
    <p:sldId id="263" r:id="R9c60535d86024b7c"/>
    <p:sldId id="264" r:id="R987f9e5e90d64df9"/>
    <p:sldId id="265" r:id="R4c98a70cf4d84ad5"/>
    <p:sldId id="266" r:id="R834d7e2fcacf4df0"/>
    <p:sldId id="267" r:id="R529798cfcea5496b"/>
    <p:sldId id="268" r:id="R583126d4b06e423d"/>
    <p:sldId id="269" r:id="Rf1a8fc9fd08a49ba"/>
    <p:sldId id="270" r:id="R42438b5940ca47fd"/>
    <p:sldId id="271" r:id="R1881aecaee8a4a72"/>
    <p:sldId id="272" r:id="Rbfcf3488cd3d4d96"/>
    <p:sldId id="273" r:id="R7cbb47c3dc1c4a0f"/>
    <p:sldId id="274" r:id="R48eafd6936ba4dc6"/>
    <p:sldId id="275" r:id="Rddfa498de56e4cb9"/>
    <p:sldId id="276" r:id="Re2e08a2dad834cbe"/>
    <p:sldId id="277" r:id="R37576d5286d046b2"/>
    <p:sldId id="278" r:id="Rdd4ff3fffbdc4047"/>
    <p:sldId id="279" r:id="R13b3c093de5643f9"/>
    <p:sldId id="280" r:id="R565e760932b64a2b"/>
    <p:sldId id="281" r:id="Rccadbc9049e5400e"/>
    <p:sldId id="282" r:id="R7a674b10b37c422b"/>
    <p:sldId id="283" r:id="R84b6208f6565427f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45" autoAdjust="0"/>
    <p:restoredTop sz="94660"/>
  </p:normalViewPr>
  <p:slideViewPr>
    <p:cSldViewPr showGuides="1">
      <p:cViewPr varScale="1">
        <p:scale>
          <a:sx n="79" d="100"/>
          <a:sy n="79" d="100"/>
        </p:scale>
        <p:origin x="57" y="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34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8a092fdf7714438b" /><Relationship Type="http://schemas.openxmlformats.org/officeDocument/2006/relationships/notesMaster" Target="/ppt/notesMasters/notesMaster1.xml" Id="Rd94ee02c9be041ae" /><Relationship Type="http://schemas.openxmlformats.org/officeDocument/2006/relationships/presProps" Target="/ppt/presProps.xml" Id="R4dff1d76114847b3" /><Relationship Type="http://schemas.openxmlformats.org/officeDocument/2006/relationships/viewProps" Target="/ppt/viewProps.xml" Id="Rb29b350ed1f84cd1" /><Relationship Type="http://schemas.openxmlformats.org/officeDocument/2006/relationships/slideMaster" Target="/ppt/slideMasters/slideMaster1.xml" Id="R70a69111c5b24ef5" /><Relationship Type="http://schemas.openxmlformats.org/officeDocument/2006/relationships/theme" Target="/ppt/slideMasters/theme/theme3.xml" Id="R4361079fd72d482e" /><Relationship Type="http://schemas.openxmlformats.org/officeDocument/2006/relationships/slide" Target="/ppt/slides/slide1.xml" Id="Rf1b4619e2d334b3e" /><Relationship Type="http://schemas.openxmlformats.org/officeDocument/2006/relationships/slide" Target="/ppt/slides/slide2.xml" Id="R0b3fe0e92dd942e1" /><Relationship Type="http://schemas.openxmlformats.org/officeDocument/2006/relationships/slide" Target="/ppt/slides/slide3.xml" Id="Rd9e939622c1045ee" /><Relationship Type="http://schemas.openxmlformats.org/officeDocument/2006/relationships/slide" Target="/ppt/slides/slide4.xml" Id="R7c7878d9812c41d5" /><Relationship Type="http://schemas.openxmlformats.org/officeDocument/2006/relationships/slide" Target="/ppt/slides/slide5.xml" Id="Rfc4b7cd1b1844f17" /><Relationship Type="http://schemas.openxmlformats.org/officeDocument/2006/relationships/slide" Target="/ppt/slides/slide6.xml" Id="R1c473f31b5814065" /><Relationship Type="http://schemas.openxmlformats.org/officeDocument/2006/relationships/slide" Target="/ppt/slides/slide7.xml" Id="R4b15e2829fee4f38" /><Relationship Type="http://schemas.openxmlformats.org/officeDocument/2006/relationships/slide" Target="/ppt/slides/slide8.xml" Id="R9c60535d86024b7c" /><Relationship Type="http://schemas.openxmlformats.org/officeDocument/2006/relationships/slide" Target="/ppt/slides/slide9.xml" Id="R987f9e5e90d64df9" /><Relationship Type="http://schemas.openxmlformats.org/officeDocument/2006/relationships/slide" Target="/ppt/slides/slide10.xml" Id="R4c98a70cf4d84ad5" /><Relationship Type="http://schemas.openxmlformats.org/officeDocument/2006/relationships/slide" Target="/ppt/slides/slide11.xml" Id="R834d7e2fcacf4df0" /><Relationship Type="http://schemas.openxmlformats.org/officeDocument/2006/relationships/slide" Target="/ppt/slides/slide12.xml" Id="R529798cfcea5496b" /><Relationship Type="http://schemas.openxmlformats.org/officeDocument/2006/relationships/slide" Target="/ppt/slides/slide13.xml" Id="R583126d4b06e423d" /><Relationship Type="http://schemas.openxmlformats.org/officeDocument/2006/relationships/slide" Target="/ppt/slides/slide14.xml" Id="Rf1a8fc9fd08a49ba" /><Relationship Type="http://schemas.openxmlformats.org/officeDocument/2006/relationships/slide" Target="/ppt/slides/slide15.xml" Id="R42438b5940ca47fd" /><Relationship Type="http://schemas.openxmlformats.org/officeDocument/2006/relationships/slide" Target="/ppt/slides/slide16.xml" Id="R1881aecaee8a4a72" /><Relationship Type="http://schemas.openxmlformats.org/officeDocument/2006/relationships/slide" Target="/ppt/slides/slide17.xml" Id="Rbfcf3488cd3d4d96" /><Relationship Type="http://schemas.openxmlformats.org/officeDocument/2006/relationships/slide" Target="/ppt/slides/slide18.xml" Id="R7cbb47c3dc1c4a0f" /><Relationship Type="http://schemas.openxmlformats.org/officeDocument/2006/relationships/slide" Target="/ppt/slides/slide19.xml" Id="R48eafd6936ba4dc6" /><Relationship Type="http://schemas.openxmlformats.org/officeDocument/2006/relationships/slide" Target="/ppt/slides/slide20.xml" Id="Rddfa498de56e4cb9" /><Relationship Type="http://schemas.openxmlformats.org/officeDocument/2006/relationships/slide" Target="/ppt/slides/slide21.xml" Id="Re2e08a2dad834cbe" /><Relationship Type="http://schemas.openxmlformats.org/officeDocument/2006/relationships/slide" Target="/ppt/slides/slide22.xml" Id="R37576d5286d046b2" /><Relationship Type="http://schemas.openxmlformats.org/officeDocument/2006/relationships/slide" Target="/ppt/slides/slide23.xml" Id="Rdd4ff3fffbdc4047" /><Relationship Type="http://schemas.openxmlformats.org/officeDocument/2006/relationships/slide" Target="/ppt/slides/slide24.xml" Id="R13b3c093de5643f9" /><Relationship Type="http://schemas.openxmlformats.org/officeDocument/2006/relationships/slide" Target="/ppt/slides/slide25.xml" Id="R565e760932b64a2b" /><Relationship Type="http://schemas.openxmlformats.org/officeDocument/2006/relationships/slide" Target="/ppt/slides/slide26.xml" Id="Rccadbc9049e5400e" /><Relationship Type="http://schemas.openxmlformats.org/officeDocument/2006/relationships/slide" Target="/ppt/slides/slide27.xml" Id="R7a674b10b37c422b" /><Relationship Type="http://schemas.openxmlformats.org/officeDocument/2006/relationships/slide" Target="/ppt/slides/slide28.xml" Id="R84b6208f6565427f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a23985addc9d4077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2025/4/28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44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仿宋"/>
        <a:ea typeface="仿宋"/>
        <a:cs typeface="Arial"/>
        <a:font script="Jpan" typeface="ＭＳ Ｐゴシック"/>
        <a:font script="Hang" typeface="맑은 고딕"/>
        <a:font script="Hans" typeface="仿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仿宋"/>
        <a:ea typeface="仿宋"/>
        <a:cs typeface="Arial"/>
        <a:font script="Jpan" typeface="ＭＳ Ｐゴシック"/>
        <a:font script="Hang" typeface="맑은 고딕"/>
        <a:font script="Hans" typeface="仿宋"/>
        <a:font script="Hant" typeface="新細明體"/>
        <a:font script="Arab" typeface="仿宋"/>
        <a:font script="Hebr" typeface="仿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c619e1ed774e2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zh-CN" dirty="0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zh-CN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7BFA3A6-6D4F-41B6-B7E2-A67420535EE2}" type="slidenum">
              <a:rPr lang="zh-CN" altLang="zh-CN"/>
              <a:pPr/>
              <a:t>‹#›</a:t>
            </a:fld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573996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仿宋"/>
        <a:ea typeface="仿宋"/>
        <a:cs typeface="Arial"/>
        <a:font script="Jpan" typeface="游ゴシック Light"/>
        <a:font script="Hang" typeface="맑은 고딕"/>
        <a:font script="Hans" typeface="仿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仿宋"/>
        <a:ea typeface="仿宋"/>
        <a:cs typeface="Arial"/>
        <a:font script="Jpan" typeface="游ゴシック"/>
        <a:font script="Hang" typeface="맑은 고딕"/>
        <a:font script="Hans" typeface="仿宋"/>
        <a:font script="Hant" typeface="新細明體"/>
        <a:font script="Arab" typeface="仿宋"/>
        <a:font script="Hebr" typeface="仿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2.xml" Id="Re7aee0ff11074e2d" /><Relationship Type="http://schemas.openxmlformats.org/officeDocument/2006/relationships/notesMaster" Target="/ppt/notesMasters/notesMaster1.xml" Id="Rd35dc746e479484e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86a2f78436bd459daa69fd396938f845" /><Relationship Type="http://schemas.openxmlformats.org/officeDocument/2006/relationships/slideMaster" Target="/ppt/slideMasters/slideMaster1.xml" Id="R14e2e390e7a048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d392673171434047b9b78d094a92965d" /><Relationship Type="http://schemas.openxmlformats.org/officeDocument/2006/relationships/slideMaster" Target="/ppt/slideMasters/slideMaster1.xml" Id="Re8f8d12a89c241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.bin" Id="R3dd9bae77990418c" /><Relationship Type="http://schemas.openxmlformats.org/officeDocument/2006/relationships/image" Target="/ppt/media/image2.bin" Id="R07b67e22c8f54671" /><Relationship Type="http://schemas.openxmlformats.org/officeDocument/2006/relationships/slideMaster" Target="/ppt/slideMasters/slideMaster1.xml" Id="R34f2ac0c3b3d49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.bin" Id="Rb89be42ee7054580" /><Relationship Type="http://schemas.openxmlformats.org/officeDocument/2006/relationships/image" Target="/ppt/media/image3.bin" Id="R98302317dedb4ace" /><Relationship Type="http://schemas.openxmlformats.org/officeDocument/2006/relationships/image" Target="/ppt/media/image4.bin" Id="R67c7fa5bd7a64c80" /><Relationship Type="http://schemas.openxmlformats.org/officeDocument/2006/relationships/image" Target="/ppt/media/image5.bin" Id="Re452c826e19844ec" /><Relationship Type="http://schemas.openxmlformats.org/officeDocument/2006/relationships/image" Target="/ppt/media/image6.bin" Id="R4c416af347cd48df" /><Relationship Type="http://schemas.openxmlformats.org/officeDocument/2006/relationships/image" Target="/ppt/media/image7.bin" Id="R5aa2bba7d9354c15" /><Relationship Type="http://schemas.openxmlformats.org/officeDocument/2006/relationships/image" Target="/ppt/media/image8.bin" Id="R45636be17d1e4062" /><Relationship Type="http://schemas.openxmlformats.org/officeDocument/2006/relationships/image" Target="/ppt/media/image9.bin" Id="R57d2c47c768e42b0" /><Relationship Type="http://schemas.openxmlformats.org/officeDocument/2006/relationships/image" Target="/ppt/media/image10.bin" Id="Rb715a3da6ca14e26" /><Relationship Type="http://schemas.openxmlformats.org/officeDocument/2006/relationships/image" Target="/ppt/media/image11.bin" Id="R7ed7878fe95b43f2" /><Relationship Type="http://schemas.openxmlformats.org/officeDocument/2006/relationships/tags" Target="/ppt/slideLayouts/tags/tag1.xml" Id="Rb47227c831824324" /><Relationship Type="http://schemas.openxmlformats.org/officeDocument/2006/relationships/tags" Target="/ppt/slideLayouts/tags/tag2.xml" Id="Rb6b519406f014661" /><Relationship Type="http://schemas.openxmlformats.org/officeDocument/2006/relationships/tags" Target="/ppt/slideLayouts/tags/tag3.xml" Id="R3c70cd81d5094be6" /><Relationship Type="http://schemas.openxmlformats.org/officeDocument/2006/relationships/tags" Target="/ppt/slideLayouts/tags/tag4.xml" Id="Rafbdddcaf8d345e7" /><Relationship Type="http://schemas.openxmlformats.org/officeDocument/2006/relationships/tags" Target="/ppt/slideLayouts/tags/tag5.xml" Id="Rf843f8871f1142b5" /><Relationship Type="http://schemas.openxmlformats.org/officeDocument/2006/relationships/tags" Target="/ppt/slideLayouts/tags/tag6.xml" Id="R440789f910a74073" /><Relationship Type="http://schemas.openxmlformats.org/officeDocument/2006/relationships/tags" Target="/ppt/slideLayouts/tags/tag7.xml" Id="R39210f1a6bca4473" /><Relationship Type="http://schemas.openxmlformats.org/officeDocument/2006/relationships/tags" Target="/ppt/slideLayouts/tags/tag8.xml" Id="R7a175523c06042f5" /><Relationship Type="http://schemas.openxmlformats.org/officeDocument/2006/relationships/slideMaster" Target="/ppt/slideMasters/slideMaster1.xml" Id="R189abab7e6c14d1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zh-CN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2C266-146E-40DD-9553-3714E4FCD41E}"/>
              </a:ext>
            </a:extLst>
          </p:cNvPr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ABF0448-C2A9-4989-8E5C-58E8D06CC1AC}"/>
              </a:ext>
            </a:extLst>
          </p:cNvPr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86a2f78436bd459daa69fd396938f845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86a2f78436bd459daa69fd396938f845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86a2f78436bd459daa69fd396938f845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58C0CB9-EC48-4663-A57D-52B6BB64C11A}"/>
              </a:ext>
            </a:extLst>
          </p:cNvPr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8B476D33-15A6-46E7-A15D-86FC866CCDFF}"/>
              </a:ext>
            </a:extLst>
          </p:cNvPr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E7BC5362-962B-465C-9816-C98E2439075D}"/>
              </a:ext>
            </a:extLst>
          </p:cNvPr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1F1C820A-80DB-4F70-A2B3-B76429A53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34D8441D-5ACC-42AB-B892-05E611893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7AE7ED0D-1B32-4055-BD7E-C11E1593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AE41202D-A65C-4658-8915-A0231B7C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zh-CN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d392673171434047b9b78d094a92965d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d392673171434047b9b78d094a92965d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d392673171434047b9b78d094a92965d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卡通手绘风格517吃货节食物海报促销banner背景 拷贝"/>
          <p:cNvPicPr>
            <a:picLocks noChangeAspect="1"/>
          </p:cNvPicPr>
          <p:nvPr userDrawn="1"/>
        </p:nvPicPr>
        <p:blipFill>
          <a:blip r:embed="R3dd9bae77990418c"/>
          <a:stretch>
            <a:fillRect/>
          </a:stretch>
        </p:blipFill>
        <p:spPr>
          <a:xfrm>
            <a:off x="-19050" y="635"/>
            <a:ext cx="122745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15" y="188595"/>
            <a:ext cx="10515600" cy="873760"/>
          </a:xfrm>
        </p:spPr>
        <p:txBody>
          <a:bodyPr/>
          <a:lstStyle>
            <a:lvl1pPr>
              <a:defRPr sz="2800" b="1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4CCFB-0FC1-4EDA-B4BE-F8F8A394F938}" type="slidenum">
              <a:rPr lang="zh-CN" altLang="zh-CN"/>
              <a:t>‹#›</a:t>
            </a:fld>
            <a:endParaRPr lang="zh-CN" altLang="zh-CN"/>
          </a:p>
        </p:txBody>
      </p:sp>
      <p:pic>
        <p:nvPicPr>
          <p:cNvPr id="7" name="图片 6" descr="51miz-E1279746-EA9F8C97"/>
          <p:cNvPicPr>
            <a:picLocks noChangeAspect="1"/>
          </p:cNvPicPr>
          <p:nvPr userDrawn="1"/>
        </p:nvPicPr>
        <p:blipFill>
          <a:blip r:embed="R07b67e22c8f5467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765" y="-27305"/>
            <a:ext cx="990600" cy="99060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75E6-9CF6-42A9-B9D7-2F60877A906C}" type="slidenum">
              <a:rPr lang="zh-CN" altLang="zh-CN"/>
              <a:t>‹#›</a:t>
            </a:fld>
            <a:endParaRPr lang="zh-CN" altLang="zh-CN"/>
          </a:p>
        </p:txBody>
      </p:sp>
      <p:pic>
        <p:nvPicPr>
          <p:cNvPr id="5" name="图片 4" descr="卡通手绘风格517吃货节食物海报促销banner背景 拷贝"/>
          <p:cNvPicPr>
            <a:picLocks noChangeAspect="1"/>
          </p:cNvPicPr>
          <p:nvPr userDrawn="1"/>
        </p:nvPicPr>
        <p:blipFill>
          <a:blip r:embed="Rb89be42ee7054580"/>
          <a:stretch>
            <a:fillRect/>
          </a:stretch>
        </p:blipFill>
        <p:spPr>
          <a:xfrm>
            <a:off x="-19050" y="635"/>
            <a:ext cx="12274550" cy="6858000"/>
          </a:xfrm>
          <a:prstGeom prst="rect">
            <a:avLst/>
          </a:prstGeom>
        </p:spPr>
      </p:pic>
      <p:pic>
        <p:nvPicPr>
          <p:cNvPr id="6" name="图片 5" descr="卡通手绘风格517吃货节食物海报促销banner背景 拷贝"/>
          <p:cNvPicPr>
            <a:picLocks noChangeAspect="1"/>
          </p:cNvPicPr>
          <p:nvPr userDrawn="1">
            <p:custDataLst>
              <p:tags r:id="Rb47227c831824324"/>
            </p:custDataLst>
          </p:nvPr>
        </p:nvPicPr>
        <p:blipFill>
          <a:blip r:embed="R98302317dedb4ac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16610" y="4653280"/>
            <a:ext cx="2775585" cy="2477770"/>
          </a:xfrm>
          <a:prstGeom prst="rect">
            <a:avLst/>
          </a:prstGeom>
        </p:spPr>
      </p:pic>
      <p:pic>
        <p:nvPicPr>
          <p:cNvPr id="7" name="图片 6" descr="卡通手绘风格517吃货节食物海报促销banner背景 拷贝"/>
          <p:cNvPicPr>
            <a:picLocks noChangeAspect="1"/>
          </p:cNvPicPr>
          <p:nvPr userDrawn="1">
            <p:custDataLst>
              <p:tags r:id="Rb6b519406f014661"/>
            </p:custDataLst>
          </p:nvPr>
        </p:nvPicPr>
        <p:blipFill>
          <a:blip r:embed="R67c7fa5bd7a64c8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04195" y="548640"/>
            <a:ext cx="2016125" cy="2736215"/>
          </a:xfrm>
          <a:prstGeom prst="rect">
            <a:avLst/>
          </a:prstGeom>
        </p:spPr>
      </p:pic>
      <p:pic>
        <p:nvPicPr>
          <p:cNvPr id="8" name="图片 7" descr="卡通手绘风格517吃货节食物海报促销banner背景 拷贝"/>
          <p:cNvPicPr>
            <a:picLocks noChangeAspect="1"/>
          </p:cNvPicPr>
          <p:nvPr userDrawn="1">
            <p:custDataLst>
              <p:tags r:id="R3c70cd81d5094be6"/>
            </p:custDataLst>
          </p:nvPr>
        </p:nvPicPr>
        <p:blipFill>
          <a:blip r:embed="Re452c826e19844e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68205" y="4478655"/>
            <a:ext cx="3191510" cy="2724150"/>
          </a:xfrm>
          <a:prstGeom prst="rect">
            <a:avLst/>
          </a:prstGeom>
        </p:spPr>
      </p:pic>
      <p:pic>
        <p:nvPicPr>
          <p:cNvPr id="9" name="图片 8" descr="卡通手绘风格517吃货节食物海报促销banner背景 拷贝"/>
          <p:cNvPicPr>
            <a:picLocks noChangeAspect="1"/>
          </p:cNvPicPr>
          <p:nvPr userDrawn="1">
            <p:custDataLst>
              <p:tags r:id="Rafbdddcaf8d345e7"/>
            </p:custDataLst>
          </p:nvPr>
        </p:nvPicPr>
        <p:blipFill>
          <a:blip r:embed="R4c416af347cd48d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35810" y="5373370"/>
            <a:ext cx="1487805" cy="1410970"/>
          </a:xfrm>
          <a:prstGeom prst="rect">
            <a:avLst/>
          </a:prstGeom>
        </p:spPr>
      </p:pic>
      <p:pic>
        <p:nvPicPr>
          <p:cNvPr id="10" name="图片 9" descr="卡通手绘风格517吃货节食物海报促销banner背景 拷贝"/>
          <p:cNvPicPr>
            <a:picLocks noChangeAspect="1"/>
          </p:cNvPicPr>
          <p:nvPr userDrawn="1">
            <p:custDataLst>
              <p:tags r:id="Rf843f8871f1142b5"/>
            </p:custDataLst>
          </p:nvPr>
        </p:nvPicPr>
        <p:blipFill>
          <a:blip r:embed="R5aa2bba7d9354c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89000" y="2637155"/>
            <a:ext cx="2098040" cy="1603375"/>
          </a:xfrm>
          <a:prstGeom prst="rect">
            <a:avLst/>
          </a:prstGeom>
        </p:spPr>
      </p:pic>
      <p:pic>
        <p:nvPicPr>
          <p:cNvPr id="11" name="图片 10" descr="卡通手绘风格517吃货节食物海报促销banner背景 拷贝"/>
          <p:cNvPicPr>
            <a:picLocks noChangeAspect="1"/>
          </p:cNvPicPr>
          <p:nvPr userDrawn="1">
            <p:custDataLst>
              <p:tags r:id="R440789f910a74073"/>
            </p:custDataLst>
          </p:nvPr>
        </p:nvPicPr>
        <p:blipFill>
          <a:blip r:embed="R45636be17d1e406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56270" y="-459740"/>
            <a:ext cx="3024505" cy="1800225"/>
          </a:xfrm>
          <a:prstGeom prst="rect">
            <a:avLst/>
          </a:prstGeom>
        </p:spPr>
      </p:pic>
      <p:pic>
        <p:nvPicPr>
          <p:cNvPr id="12" name="图片 11" descr="卡通手绘风格517吃货节食物海报促销banner背景 拷贝"/>
          <p:cNvPicPr>
            <a:picLocks noChangeAspect="1"/>
          </p:cNvPicPr>
          <p:nvPr userDrawn="1">
            <p:custDataLst>
              <p:tags r:id="R39210f1a6bca4473"/>
            </p:custDataLst>
          </p:nvPr>
        </p:nvPicPr>
        <p:blipFill>
          <a:blip r:embed="R57d2c47c768e42b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48340" y="3367405"/>
            <a:ext cx="1645285" cy="1196975"/>
          </a:xfrm>
          <a:prstGeom prst="rect">
            <a:avLst/>
          </a:prstGeom>
        </p:spPr>
      </p:pic>
      <p:pic>
        <p:nvPicPr>
          <p:cNvPr id="13" name="图片 12" descr="卡通手绘风格517吃货节食物海报促销banner背景 拷贝"/>
          <p:cNvPicPr>
            <a:picLocks noChangeAspect="1"/>
          </p:cNvPicPr>
          <p:nvPr userDrawn="1">
            <p:custDataLst>
              <p:tags r:id="R7a175523c06042f5"/>
            </p:custDataLst>
          </p:nvPr>
        </p:nvPicPr>
        <p:blipFill>
          <a:blip r:embed="Rb715a3da6ca14e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38490" y="5749290"/>
            <a:ext cx="1097915" cy="979805"/>
          </a:xfrm>
          <a:prstGeom prst="rect">
            <a:avLst/>
          </a:prstGeom>
        </p:spPr>
      </p:pic>
      <p:pic>
        <p:nvPicPr>
          <p:cNvPr id="14" name="图片 13" descr="51miz-E1135838-5E44D492"/>
          <p:cNvPicPr>
            <a:picLocks noChangeAspect="1"/>
          </p:cNvPicPr>
          <p:nvPr userDrawn="1"/>
        </p:nvPicPr>
        <p:blipFill>
          <a:blip r:embed="R7ed7878fe95b43f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320800" y="-99060"/>
            <a:ext cx="2722880" cy="208851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Layout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000,&quot;width&quot;:19200}"/>
</p:tagLs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04a7300eee94786" /><Relationship Type="http://schemas.openxmlformats.org/officeDocument/2006/relationships/slideLayout" Target="/ppt/slideLayouts/slideLayout1.xml" Id="R7f165ba552bd4b2d" /><Relationship Type="http://schemas.openxmlformats.org/officeDocument/2006/relationships/slideLayout" Target="/ppt/slideLayouts/slideLayout2.xml" Id="Rce133b1b0d7241db" /><Relationship Type="http://schemas.openxmlformats.org/officeDocument/2006/relationships/slideLayout" Target="/ppt/slideLayouts/slideLayout3.xml" Id="R18a578cd7c4c417a" /><Relationship Type="http://schemas.openxmlformats.org/officeDocument/2006/relationships/slideLayout" Target="/ppt/slideLayouts/slideLayout4.xml" Id="R3adb780a8f92472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189AF9-F7CE-45BE-ADAF-EB0536D3C660}" type="slidenum">
              <a:rPr lang="zh-CN" altLang="zh-CN"/>
              <a:pPr/>
              <a:t>‹#›</a:t>
            </a:fld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18a578cd7c4c417a"/>
    <p:sldLayoutId id="2147483650" r:id="Rce133b1b0d7241db"/>
    <p:sldLayoutId id="2147483649" r:id="R7f165ba552bd4b2d"/>
    <p:sldLayoutId id="2147483652" r:id="R3adb780a8f92472d"/>
  </p:sldLayoutIdLst>
  <p:transition spd="slow" advClick="0" advTm="0">
    <p:fade/>
  </p:transition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3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仿宋"/>
        <a:ea typeface="仿宋"/>
        <a:cs typeface="Arial"/>
        <a:font script="Jpan" typeface="游ゴシック Light"/>
        <a:font script="Hang" typeface="맑은 고딕"/>
        <a:font script="Hans" typeface="仿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仿宋"/>
        <a:ea typeface="仿宋"/>
        <a:cs typeface="Arial"/>
        <a:font script="Jpan" typeface="游ゴシック"/>
        <a:font script="Hang" typeface="맑은 고딕"/>
        <a:font script="Hans" typeface="仿宋"/>
        <a:font script="Hant" typeface="新細明體"/>
        <a:font script="Arab" typeface="仿宋"/>
        <a:font script="Hebr" typeface="仿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仿宋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tags" Target="/ppt/slides/tags/tag9.xml" Id="Rc1a47cb15faa4a3b" /><Relationship Type="http://schemas.openxmlformats.org/officeDocument/2006/relationships/tags" Target="/ppt/slides/tags/tag10.xml" Id="R6879c1ceb19e4eff" /><Relationship Type="http://schemas.openxmlformats.org/officeDocument/2006/relationships/slideLayout" Target="/ppt/slideLayouts/slideLayout4.xml" Id="R75084a6576b24e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cbe3107cadc41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2.bin" Id="Rb8cb7520e4f4438f" /><Relationship Type="http://schemas.openxmlformats.org/officeDocument/2006/relationships/image" Target="/ppt/media/image13.bin" Id="R0936615f78f34976" /><Relationship Type="http://schemas.openxmlformats.org/officeDocument/2006/relationships/slideLayout" Target="/ppt/slideLayouts/slideLayout3.xml" Id="R7a589fe079f440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4.bin" Id="R99ea5a3ae97841ad" /><Relationship Type="http://schemas.openxmlformats.org/officeDocument/2006/relationships/image" Target="/ppt/media/image15.bin" Id="R5c42ced4d4ac4fb3" /><Relationship Type="http://schemas.openxmlformats.org/officeDocument/2006/relationships/slideLayout" Target="/ppt/slideLayouts/slideLayout3.xml" Id="Rc997b7df6265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tags" Target="/ppt/slides/tags/tag11.xml" Id="Re4853a67e9c54b8d" /><Relationship Type="http://schemas.openxmlformats.org/officeDocument/2006/relationships/tags" Target="/ppt/slides/tags/tag12.xml" Id="R3bebc6aab7224b85" /><Relationship Type="http://schemas.openxmlformats.org/officeDocument/2006/relationships/tags" Target="/ppt/slides/tags/tag13.xml" Id="R2348635d1282454a" /><Relationship Type="http://schemas.openxmlformats.org/officeDocument/2006/relationships/tags" Target="/ppt/slides/tags/tag14.xml" Id="Rfd20ddb56d374483" /><Relationship Type="http://schemas.openxmlformats.org/officeDocument/2006/relationships/tags" Target="/ppt/slides/tags/tag15.xml" Id="Rdcb962fa5e9a4cf6" /><Relationship Type="http://schemas.openxmlformats.org/officeDocument/2006/relationships/tags" Target="/ppt/slides/tags/tag16.xml" Id="R09af6723c91d409d" /><Relationship Type="http://schemas.openxmlformats.org/officeDocument/2006/relationships/slideLayout" Target="/ppt/slideLayouts/slideLayout4.xml" Id="Ree6f0c1badea48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3145bd0e2c4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6.bin" Id="R92c854a5943a4d7c" /><Relationship Type="http://schemas.openxmlformats.org/officeDocument/2006/relationships/image" Target="/ppt/media/image17.bin" Id="R7567931ff8b546cb" /><Relationship Type="http://schemas.openxmlformats.org/officeDocument/2006/relationships/slideLayout" Target="/ppt/slideLayouts/slideLayout3.xml" Id="Ra26cca00ba3145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8.bin" Id="R1589d46251e145d9" /><Relationship Type="http://schemas.openxmlformats.org/officeDocument/2006/relationships/image" Target="/ppt/media/image19.bin" Id="R79e2d25174ea4fa1" /><Relationship Type="http://schemas.openxmlformats.org/officeDocument/2006/relationships/tags" Target="/ppt/slides/tags/tag17.xml" Id="R461a326febf14365" /><Relationship Type="http://schemas.openxmlformats.org/officeDocument/2006/relationships/tags" Target="/ppt/slides/tags/tag18.xml" Id="R359c8a13265641c7" /><Relationship Type="http://schemas.openxmlformats.org/officeDocument/2006/relationships/slideLayout" Target="/ppt/slideLayouts/slideLayout3.xml" Id="R318ae2162ab74b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0.bin" Id="R77b17111e4654cf8" /><Relationship Type="http://schemas.openxmlformats.org/officeDocument/2006/relationships/slideLayout" Target="/ppt/slideLayouts/slideLayout3.xml" Id="R975a70100bcb44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1.bin" Id="R3da8ca6602724746" /><Relationship Type="http://schemas.openxmlformats.org/officeDocument/2006/relationships/slideLayout" Target="/ppt/slideLayouts/slideLayout3.xml" Id="R1a10a908ac284f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5602877f2944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2.bin" Id="R4a612c0c5dd24ef5" /><Relationship Type="http://schemas.openxmlformats.org/officeDocument/2006/relationships/image" Target="/ppt/media/image23.bin" Id="R2e7d943bc5a64160" /><Relationship Type="http://schemas.openxmlformats.org/officeDocument/2006/relationships/image" Target="/ppt/media/image24.bin" Id="R8382c1dcdc834a95" /><Relationship Type="http://schemas.openxmlformats.org/officeDocument/2006/relationships/tags" Target="/ppt/slides/tags/tag19.xml" Id="Rad6d088449c24250" /><Relationship Type="http://schemas.openxmlformats.org/officeDocument/2006/relationships/tags" Target="/ppt/slides/tags/tag20.xml" Id="R04630a2a4ba24d0e" /><Relationship Type="http://schemas.openxmlformats.org/officeDocument/2006/relationships/tags" Target="/ppt/slides/tags/tag21.xml" Id="R0dc1252a6e0d4765" /><Relationship Type="http://schemas.openxmlformats.org/officeDocument/2006/relationships/tags" Target="/ppt/slides/tags/tag22.xml" Id="R3148b0f7b6c74086" /><Relationship Type="http://schemas.openxmlformats.org/officeDocument/2006/relationships/slideLayout" Target="/ppt/slideLayouts/slideLayout3.xml" Id="R05f21e9487e64e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00b262bf5248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5.bin" Id="R29e3a2b1fb7e441c" /><Relationship Type="http://schemas.openxmlformats.org/officeDocument/2006/relationships/image" Target="/ppt/media/image26.bin" Id="Re967456a76294aba" /><Relationship Type="http://schemas.openxmlformats.org/officeDocument/2006/relationships/slideLayout" Target="/ppt/slideLayouts/slideLayout3.xml" Id="R3afc016b219c47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7.bin" Id="R9e43aeab96fc4cd1" /><Relationship Type="http://schemas.openxmlformats.org/officeDocument/2006/relationships/slideLayout" Target="/ppt/slideLayouts/slideLayout3.xml" Id="Rc6764140ea264a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8.bin" Id="R84e68a035f4342ce" /><Relationship Type="http://schemas.openxmlformats.org/officeDocument/2006/relationships/slideLayout" Target="/ppt/slideLayouts/slideLayout3.xml" Id="Ra5a705b5d75b40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9.bin" Id="R70f0164242ea42a9" /><Relationship Type="http://schemas.openxmlformats.org/officeDocument/2006/relationships/image" Target="/ppt/media/image30.bin" Id="R732f4a5c8e4d495e" /><Relationship Type="http://schemas.openxmlformats.org/officeDocument/2006/relationships/slideLayout" Target="/ppt/slideLayouts/slideLayout3.xml" Id="R8aa476f5d8b04b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7f91fe540c4b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31.bin" Id="Rad7e17276db14c4f" /><Relationship Type="http://schemas.openxmlformats.org/officeDocument/2006/relationships/tags" Target="/ppt/slides/tags/tag23.xml" Id="Rdf337a96988e4dc7" /><Relationship Type="http://schemas.openxmlformats.org/officeDocument/2006/relationships/tags" Target="/ppt/slides/tags/tag24.xml" Id="R653a575044bb41c5" /><Relationship Type="http://schemas.openxmlformats.org/officeDocument/2006/relationships/slideLayout" Target="/ppt/slideLayouts/slideLayout3.xml" Id="Rfd5c3d22134d4f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32.bin" Id="Ra74b8027ec094d94" /><Relationship Type="http://schemas.openxmlformats.org/officeDocument/2006/relationships/image" Target="/ppt/media/image33.bin" Id="Rcadff01b01cd47b8" /><Relationship Type="http://schemas.openxmlformats.org/officeDocument/2006/relationships/slideLayout" Target="/ppt/slideLayouts/slideLayout3.xml" Id="Rb1290556ab724a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34.bin" Id="R3e4e8b60738c4615" /><Relationship Type="http://schemas.openxmlformats.org/officeDocument/2006/relationships/image" Target="/ppt/media/image35.bin" Id="R6c10abed153f4b9e" /><Relationship Type="http://schemas.openxmlformats.org/officeDocument/2006/relationships/image" Target="/ppt/media/image36.bin" Id="Re51c245131364952" /><Relationship Type="http://schemas.openxmlformats.org/officeDocument/2006/relationships/tags" Target="/ppt/slides/tags/tag25.xml" Id="Rcaff49564c954ae8" /><Relationship Type="http://schemas.openxmlformats.org/officeDocument/2006/relationships/tags" Target="/ppt/slides/tags/tag26.xml" Id="R516fdba3c30a4d73" /><Relationship Type="http://schemas.openxmlformats.org/officeDocument/2006/relationships/tags" Target="/ppt/slides/tags/tag27.xml" Id="R5a2f60de22e24e6c" /><Relationship Type="http://schemas.openxmlformats.org/officeDocument/2006/relationships/tags" Target="/ppt/slides/tags/tag28.xml" Id="Rb65821d676e34c4c" /><Relationship Type="http://schemas.openxmlformats.org/officeDocument/2006/relationships/slideLayout" Target="/ppt/slideLayouts/slideLayout3.xml" Id="R968f16a5339644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37.bin" Id="R154966e275c34d29" /><Relationship Type="http://schemas.openxmlformats.org/officeDocument/2006/relationships/image" Target="/ppt/media/image38.bin" Id="R7b5e5f247dc8473c" /><Relationship Type="http://schemas.openxmlformats.org/officeDocument/2006/relationships/notesSlide" Target="/ppt/notesSlides/notesSlide1.xml" Id="R3f0a1c8eea8b4ba8" /><Relationship Type="http://schemas.openxmlformats.org/officeDocument/2006/relationships/slideLayout" Target="/ppt/slideLayouts/slideLayout3.xml" Id="Rf4853f2856f74f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39.bin" Id="R6a46cd805a5d4612" /><Relationship Type="http://schemas.openxmlformats.org/officeDocument/2006/relationships/slideLayout" Target="/ppt/slideLayouts/slideLayout3.xml" Id="R3ed81594e63049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tags" Target="/ppt/slides/tags/tag29.xml" Id="R17fb0d8c04bc46a7" /><Relationship Type="http://schemas.openxmlformats.org/officeDocument/2006/relationships/tags" Target="/ppt/slides/tags/tag30.xml" Id="R7ca9d47132664c66" /><Relationship Type="http://schemas.openxmlformats.org/officeDocument/2006/relationships/slideLayout" Target="/ppt/slideLayouts/slideLayout4.xml" Id="R16482d75f85a44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3dfc3b9b64f04e838b31148a1a7bb937" /><Relationship Type="http://schemas.openxmlformats.org/officeDocument/2006/relationships/image" Target="/ppt/media/image40.bin" Id="R7d0af391e41f43a7" /><Relationship Type="http://schemas.openxmlformats.org/officeDocument/2006/relationships/image" Target="/ppt/media/image41.bin" Id="R50a541646a284a56" /><Relationship Type="http://schemas.openxmlformats.org/officeDocument/2006/relationships/image" Target="/ppt/media/image42.bin" Id="Rac1ddaf33fa1413a" /><Relationship Type="http://schemas.openxmlformats.org/officeDocument/2006/relationships/customXml" Target="/ppt/customXML/item.xml" Id="Rb466fbb5ea6e4a10" /><Relationship Type="http://schemas.openxmlformats.org/officeDocument/2006/relationships/customXml" Target="/ppt/customXML/item2.xml" Id="R11d9ebb5723c4c0b" /><Relationship Type="http://schemas.openxmlformats.org/officeDocument/2006/relationships/slideLayout" Target="/ppt/slideLayouts/slideLayout1.xml" Id="R5892bb48de7549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fed81f9725a74c0ba1471a08c5553ad4" /><Relationship Type="http://schemas.openxmlformats.org/officeDocument/2006/relationships/image" Target="/ppt/media/image43.bin" Id="Rb6b8d5a8006f4e65" /><Relationship Type="http://schemas.openxmlformats.org/officeDocument/2006/relationships/image" Target="/ppt/media/image44.bin" Id="R2350d8e085b74807" /><Relationship Type="http://schemas.openxmlformats.org/officeDocument/2006/relationships/image" Target="/ppt/media/image45.bin" Id="R0ea1f472a7f54ef9" /><Relationship Type="http://schemas.openxmlformats.org/officeDocument/2006/relationships/image" Target="/ppt/media/image41.bin" Id="R448178419c8b4082" /><Relationship Type="http://schemas.openxmlformats.org/officeDocument/2006/relationships/image" Target="/ppt/media/image46.bin" Id="R07cfa08d4e8f4bc4" /><Relationship Type="http://schemas.openxmlformats.org/officeDocument/2006/relationships/image" Target="/ppt/media/image47.bin" Id="R81771e4cdecc479b" /><Relationship Type="http://schemas.openxmlformats.org/officeDocument/2006/relationships/image" Target="/ppt/media/image42.bin" Id="R7ddb8095680a4619" /><Relationship Type="http://schemas.openxmlformats.org/officeDocument/2006/relationships/customXml" Target="/ppt/customXML/item3.xml" Id="Rb79ed1ffc73943d8" /><Relationship Type="http://schemas.openxmlformats.org/officeDocument/2006/relationships/customXml" Target="/ppt/customXML/item4.xml" Id="Rf15b3dc6ee904fe1" /><Relationship Type="http://schemas.openxmlformats.org/officeDocument/2006/relationships/customXml" Target="/ppt/customXML/item5.xml" Id="Ra1855b2d35f341e9" /><Relationship Type="http://schemas.openxmlformats.org/officeDocument/2006/relationships/slideLayout" Target="/ppt/slideLayouts/slideLayout1.xml" Id="R54ef3d130ab04a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48.bin" Id="Rfccae333d3a14d86" /><Relationship Type="http://schemas.openxmlformats.org/officeDocument/2006/relationships/image" Target="/ppt/media/image49.bin" Id="Rd0ecc0f5bff14f2d" /><Relationship Type="http://schemas.openxmlformats.org/officeDocument/2006/relationships/image" Target="/ppt/media/image47.bin" Id="Ra3afd6e11dcc4e73" /><Relationship Type="http://schemas.openxmlformats.org/officeDocument/2006/relationships/image" Target="/ppt/media/image50.bin" Id="R61be4bbfe2134710" /><Relationship Type="http://schemas.openxmlformats.org/officeDocument/2006/relationships/customXml" Target="/ppt/customXML/item6.xml" Id="R5f0d11d0d5024195" /><Relationship Type="http://schemas.openxmlformats.org/officeDocument/2006/relationships/customXml" Target="/ppt/customXML/item7.xml" Id="R6bdf4762290d4c6b" /><Relationship Type="http://schemas.openxmlformats.org/officeDocument/2006/relationships/customXml" Target="/ppt/customXML/item8.xml" Id="R0cefe826f16742fc" /><Relationship Type="http://schemas.openxmlformats.org/officeDocument/2006/relationships/slideLayout" Target="/ppt/slideLayouts/slideLayout1.xml" Id="R0f3be894e6484d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865c39bfbd2441b7b88d7dd96815ad8e" /><Relationship Type="http://schemas.openxmlformats.org/officeDocument/2006/relationships/hyperlink" Target="https://storyset.com/" TargetMode="External" Id="Reefe29991f5d4e4691c7cd9083776121" /><Relationship Type="http://schemas.openxmlformats.org/officeDocument/2006/relationships/slideLayout" Target="/ppt/slideLayouts/slideLayout1.xml" Id="R6c7ab87a2b334f1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035809" y="2420888"/>
            <a:ext cx="8119745" cy="999490"/>
          </a:xfrm>
        </p:spPr>
        <p:txBody>
          <a:bodyPr vert="horz" wrap="square" lIns="91440" tIns="45720" rIns="91440" bIns="45720" anchor="ctr" anchorCtr="1">
            <a:noAutofit/>
          </a:bodyPr>
          <a:lstStyle>
            <a:lvl1pPr lvl="0">
              <a:buClrTx/>
              <a:buSzTx/>
              <a:buFontTx/>
              <a:defRPr/>
            </a:lvl1pPr>
          </a:lstStyle>
          <a:p>
            <a:pPr lvl="0" algn="dist"/>
            <a:r>
              <a:rPr lang="zh-CN" altLang="en-US" sz="8000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</a:rPr>
              <a:t>中西方饮食差异</a:t>
            </a:r>
          </a:p>
        </p:txBody>
      </p:sp>
      <p:sp>
        <p:nvSpPr>
          <p:cNvPr id="4099" name="文本框 3"/>
          <p:cNvSpPr txBox="1"/>
          <p:nvPr/>
        </p:nvSpPr>
        <p:spPr>
          <a:xfrm>
            <a:off x="4622482" y="1556791"/>
            <a:ext cx="31502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dist" eaLnBrk="1" hangingPunct="1">
              <a:buNone/>
            </a:pPr>
            <a:r>
              <a:rPr lang="zh-CN" altLang="en-US" sz="2400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</a:rPr>
              <a:t>中国饮食文化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351405" y="2116227"/>
            <a:ext cx="7488555" cy="0"/>
          </a:xfrm>
          <a:prstGeom prst="line">
            <a:avLst/>
          </a:prstGeom>
          <a:ln>
            <a:gradFill>
              <a:gsLst>
                <a:gs pos="0">
                  <a:srgbClr val="7A4E09">
                    <a:alpha val="20000"/>
                  </a:srgbClr>
                </a:gs>
                <a:gs pos="38000">
                  <a:srgbClr val="7A4E09"/>
                </a:gs>
                <a:gs pos="70000">
                  <a:srgbClr val="7A4E09"/>
                </a:gs>
                <a:gs pos="100000">
                  <a:srgbClr val="7A4E09">
                    <a:alpha val="20000"/>
                  </a:srgb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3670935" y="4592330"/>
            <a:ext cx="1800225" cy="360045"/>
            <a:chOff x="5702" y="7101"/>
            <a:chExt cx="2835" cy="567"/>
          </a:xfrm>
        </p:grpSpPr>
        <p:sp>
          <p:nvSpPr>
            <p:cNvPr id="5" name="圆角矩形 4"/>
            <p:cNvSpPr/>
            <p:nvPr/>
          </p:nvSpPr>
          <p:spPr>
            <a:xfrm>
              <a:off x="5702" y="7101"/>
              <a:ext cx="2835" cy="567"/>
            </a:xfrm>
            <a:prstGeom prst="roundRect">
              <a:avLst/>
            </a:prstGeom>
            <a:solidFill>
              <a:srgbClr val="C0A8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847" y="7117"/>
              <a:ext cx="2546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日期：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202X.06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722110" y="4592330"/>
            <a:ext cx="1800225" cy="360045"/>
            <a:chOff x="5702" y="7101"/>
            <a:chExt cx="2835" cy="567"/>
          </a:xfrm>
        </p:grpSpPr>
        <p:sp>
          <p:nvSpPr>
            <p:cNvPr id="9" name="圆角矩形 8"/>
            <p:cNvSpPr/>
            <p:nvPr>
              <p:custDataLst>
                <p:tags r:id="Rc1a47cb15faa4a3b"/>
              </p:custDataLst>
            </p:nvPr>
          </p:nvSpPr>
          <p:spPr>
            <a:xfrm>
              <a:off x="5702" y="7101"/>
              <a:ext cx="2835" cy="567"/>
            </a:xfrm>
            <a:prstGeom prst="roundRect">
              <a:avLst/>
            </a:prstGeom>
            <a:solidFill>
              <a:srgbClr val="C0A8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6879c1ceb19e4eff"/>
              </p:custDataLst>
            </p:nvPr>
          </p:nvSpPr>
          <p:spPr>
            <a:xfrm>
              <a:off x="5847" y="7117"/>
              <a:ext cx="254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演讲：XX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PPT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495550" y="3500527"/>
            <a:ext cx="7404100" cy="549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7A4E09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走进餐厅，你会发现许许多风格迥异，吃法不同的地方饮食。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7A4E09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想要了解中西方饮食巨大差异的原因，必须中西方的文化以及生活背景，这就需要对其进行深入的研究。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883410" y="833438"/>
            <a:ext cx="8425180" cy="5077460"/>
          </a:xfr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俗话说：“民以食为天”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“吃”成了每个人的“必修课”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然而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随着全球化的不断实施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各地的饮食文化也在不断的冲击、融合。</a:t>
            </a:r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走进餐厅后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你会发现许许多多风格迥异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吃法不同的地方饮食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想要了解带来中西方饮食巨大差异的原因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必须先了解中西方的文化以及生活背景</a:t>
            </a:r>
            <a:b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而这就需要我们对其进行深入的研究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研究目的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164513" y="4585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pic>
        <p:nvPicPr>
          <p:cNvPr id="3" name="图片 2" descr="51miz-E1214393-865FC6B5"/>
          <p:cNvPicPr>
            <a:picLocks noChangeAspect="1"/>
          </p:cNvPicPr>
          <p:nvPr/>
        </p:nvPicPr>
        <p:blipFill>
          <a:blip r:embed="Rb8cb7520e4f4438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764704"/>
            <a:ext cx="2787015" cy="5695315"/>
          </a:xfrm>
          <a:prstGeom prst="rect">
            <a:avLst/>
          </a:prstGeom>
        </p:spPr>
      </p:pic>
      <p:pic>
        <p:nvPicPr>
          <p:cNvPr id="5" name="图片 4" descr="51miz-E1230540-CCA38B23"/>
          <p:cNvPicPr>
            <a:picLocks noChangeAspect="1"/>
          </p:cNvPicPr>
          <p:nvPr/>
        </p:nvPicPr>
        <p:blipFill>
          <a:blip r:embed="R0936615f78f3497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37915" y="652309"/>
            <a:ext cx="2458085" cy="5453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7715" y="3084964"/>
            <a:ext cx="3517265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通过调查研究，使大家对中西方饮食文化的差异有更深入的了解，从而加深对西方文化的认识。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40370" y="2924944"/>
            <a:ext cx="3517265" cy="1370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同时，在调查过程中的各项环节中，锻炼自我，提高自己的分工协作与团结合作的能力，培养自身的思考能力和创新思维。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研究过程</a:t>
            </a: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idx="4294967295"/>
          </p:nvPr>
        </p:nvSpPr>
        <p:spPr>
          <a:xfrm>
            <a:off x="4414520" y="2060848"/>
            <a:ext cx="5354955" cy="1529715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餐饮产品由于地域特征、气侯环境、风俗习惯等因素的影响，会出现在原料、口味、烹调方法、饮食习惯上的不同程度的差异。正是因为这些差异，餐饮产品具有了强烈的地域性。</a:t>
            </a:r>
          </a:p>
        </p:txBody>
      </p:sp>
      <p:pic>
        <p:nvPicPr>
          <p:cNvPr id="3" name="图片 2" descr="51miz-E762435-7B503B2A"/>
          <p:cNvPicPr>
            <a:picLocks noChangeAspect="1"/>
          </p:cNvPicPr>
          <p:nvPr/>
        </p:nvPicPr>
        <p:blipFill>
          <a:blip r:embed="R99ea5a3ae97841a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5225" y="3945210"/>
            <a:ext cx="1362075" cy="1475105"/>
          </a:xfrm>
          <a:prstGeom prst="rect">
            <a:avLst/>
          </a:prstGeom>
        </p:spPr>
      </p:pic>
      <p:pic>
        <p:nvPicPr>
          <p:cNvPr id="5" name="图片 4" descr="51miz-E1241626-DDCC1993"/>
          <p:cNvPicPr>
            <a:picLocks noChangeAspect="1"/>
          </p:cNvPicPr>
          <p:nvPr/>
        </p:nvPicPr>
        <p:blipFill>
          <a:blip r:embed="R5c42ced4d4ac4fb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2835" y="1929720"/>
            <a:ext cx="1775460" cy="1297305"/>
          </a:xfrm>
          <a:prstGeom prst="rect">
            <a:avLst/>
          </a:prstGeom>
        </p:spPr>
      </p:pic>
      <p:sp>
        <p:nvSpPr>
          <p:cNvPr id="6" name="Rectangle 3"/>
          <p:cNvSpPr>
            <a:spLocks noGrp="1" noRot="1" noChangeArrowheads="1"/>
          </p:cNvSpPr>
          <p:nvPr/>
        </p:nvSpPr>
        <p:spPr>
          <a:xfrm>
            <a:off x="4486910" y="4610581"/>
            <a:ext cx="5354955" cy="7774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中西文化之间的差异造就了中西饮食文化的差异，而这种差异来自中西方不同的思维方式和处世哲学。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19536" y="2331492"/>
            <a:ext cx="1598947" cy="12623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defTabSz="457200" eaLnBrk="1" hangingPunct="1">
              <a:buNone/>
            </a:pPr>
            <a:r>
              <a:rPr lang="zh-CN" altLang="en-US" sz="6600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Franklin Gothic Heavy" panose="020B0903020102020204" charset="0"/>
                <a:sym typeface="+mn-ea"/>
              </a:rPr>
              <a:t>目 录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799856" y="1556792"/>
            <a:ext cx="4119880" cy="774700"/>
            <a:chOff x="3863752" y="1556792"/>
            <a:chExt cx="4119880" cy="774700"/>
          </a:xfrm>
        </p:grpSpPr>
        <p:sp>
          <p:nvSpPr>
            <p:cNvPr id="2" name="文本框 1"/>
            <p:cNvSpPr txBox="1"/>
            <p:nvPr/>
          </p:nvSpPr>
          <p:spPr>
            <a:xfrm>
              <a:off x="3863752" y="1556792"/>
              <a:ext cx="4118466" cy="49466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dist">
                <a:lnSpc>
                  <a:spcPct val="100000"/>
                </a:lnSpc>
                <a:buNone/>
              </a:pPr>
              <a:r>
                <a:rPr lang="zh-CN" altLang="en-US" sz="3200" dirty="0">
                  <a:solidFill>
                    <a:srgbClr val="7A4E09"/>
                  </a:solidFill>
                  <a:latin typeface="思源宋体 CN Heavy" pitchFamily="18" charset="-122"/>
                  <a:ea typeface="思源宋体 CN Heavy" pitchFamily="18" charset="-122"/>
                  <a:cs typeface="仿宋" panose="02010609060101010101" charset="-122"/>
                  <a:sym typeface="仿宋"/>
                </a:rPr>
                <a:t>两种不同的饮食观念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863752" y="2051457"/>
              <a:ext cx="4119880" cy="2800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zh-CN" altLang="en-US" sz="1200" dirty="0">
                  <a:solidFill>
                    <a:srgbClr val="7A4E09">
                      <a:alpha val="6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TWO DIFFERENT DIETARY CONCEPTS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799856" y="2519542"/>
            <a:ext cx="4968552" cy="774700"/>
            <a:chOff x="3863752" y="2436902"/>
            <a:chExt cx="4968552" cy="774700"/>
          </a:xfrm>
        </p:grpSpPr>
        <p:sp>
          <p:nvSpPr>
            <p:cNvPr id="12" name="文本框 11"/>
            <p:cNvSpPr txBox="1"/>
            <p:nvPr>
              <p:custDataLst>
                <p:tags r:id="Re4853a67e9c54b8d"/>
              </p:custDataLst>
            </p:nvPr>
          </p:nvSpPr>
          <p:spPr>
            <a:xfrm>
              <a:off x="3863752" y="2436902"/>
              <a:ext cx="4119173" cy="49466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dist">
                <a:lnSpc>
                  <a:spcPct val="100000"/>
                </a:lnSpc>
                <a:buNone/>
              </a:pPr>
              <a:r>
                <a:rPr lang="zh-CN" altLang="en-US" sz="3200" dirty="0">
                  <a:solidFill>
                    <a:srgbClr val="7A4E09"/>
                  </a:solidFill>
                  <a:latin typeface="思源宋体 CN Heavy" pitchFamily="18" charset="-122"/>
                  <a:ea typeface="思源宋体 CN Heavy" pitchFamily="18" charset="-122"/>
                  <a:cs typeface="仿宋" panose="02010609060101010101" charset="-122"/>
                  <a:sym typeface="仿宋"/>
                </a:rPr>
                <a:t>中西饮食对象的差异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3bebc6aab7224b85"/>
              </p:custDataLst>
            </p:nvPr>
          </p:nvSpPr>
          <p:spPr>
            <a:xfrm>
              <a:off x="3863752" y="2931567"/>
              <a:ext cx="4968552" cy="2800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en-US"/>
              </a:defPPr>
              <a:lvl1pPr>
                <a:defRPr sz="1200">
                  <a:solidFill>
                    <a:srgbClr val="7A4E09">
                      <a:alpha val="60000"/>
                    </a:srgbClr>
                  </a:solidFill>
                  <a:cs typeface="阿里巴巴普惠体" panose="00020600040101010101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DIFFERENCES BETWEEN CHINESE AND WESTERNDIETARYOBJECTS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99856" y="3482292"/>
            <a:ext cx="4119880" cy="774700"/>
            <a:chOff x="3863752" y="3317012"/>
            <a:chExt cx="4119880" cy="774700"/>
          </a:xfrm>
        </p:grpSpPr>
        <p:sp>
          <p:nvSpPr>
            <p:cNvPr id="17" name="文本框 16"/>
            <p:cNvSpPr txBox="1"/>
            <p:nvPr>
              <p:custDataLst>
                <p:tags r:id="R2348635d1282454a"/>
              </p:custDataLst>
            </p:nvPr>
          </p:nvSpPr>
          <p:spPr>
            <a:xfrm>
              <a:off x="3863752" y="3317012"/>
              <a:ext cx="4119880" cy="49466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dist">
                <a:lnSpc>
                  <a:spcPct val="100000"/>
                </a:lnSpc>
                <a:buNone/>
              </a:pPr>
              <a:r>
                <a:rPr lang="zh-CN" altLang="en-US" sz="3200" dirty="0">
                  <a:solidFill>
                    <a:srgbClr val="7A4E09"/>
                  </a:solidFill>
                  <a:latin typeface="思源宋体 CN Heavy" pitchFamily="18" charset="-122"/>
                  <a:ea typeface="思源宋体 CN Heavy" pitchFamily="18" charset="-122"/>
                  <a:cs typeface="仿宋" panose="02010609060101010101" charset="-122"/>
                  <a:sym typeface="仿宋"/>
                </a:rPr>
                <a:t>饮食方式的不同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fd20ddb56d374483"/>
              </p:custDataLst>
            </p:nvPr>
          </p:nvSpPr>
          <p:spPr>
            <a:xfrm>
              <a:off x="3863752" y="3811677"/>
              <a:ext cx="4119880" cy="2800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en-US"/>
              </a:defPPr>
              <a:lvl1pPr>
                <a:defRPr sz="1200">
                  <a:solidFill>
                    <a:srgbClr val="7A4E09">
                      <a:alpha val="60000"/>
                    </a:srgbClr>
                  </a:solidFill>
                  <a:cs typeface="阿里巴巴普惠体" panose="00020600040101010101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DIFFERENCES IN DIETARY HABITS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799856" y="4445042"/>
            <a:ext cx="4119880" cy="774700"/>
            <a:chOff x="3863752" y="4445042"/>
            <a:chExt cx="4119880" cy="774700"/>
          </a:xfrm>
        </p:grpSpPr>
        <p:sp>
          <p:nvSpPr>
            <p:cNvPr id="22" name="文本框 21"/>
            <p:cNvSpPr txBox="1"/>
            <p:nvPr>
              <p:custDataLst>
                <p:tags r:id="Rdcb962fa5e9a4cf6"/>
              </p:custDataLst>
            </p:nvPr>
          </p:nvSpPr>
          <p:spPr>
            <a:xfrm>
              <a:off x="3863752" y="4445042"/>
              <a:ext cx="4119880" cy="49466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dist">
                <a:lnSpc>
                  <a:spcPct val="100000"/>
                </a:lnSpc>
                <a:buNone/>
              </a:pPr>
              <a:r>
                <a:rPr lang="zh-CN" altLang="en-US" sz="3200" dirty="0">
                  <a:solidFill>
                    <a:srgbClr val="7A4E09"/>
                  </a:solidFill>
                  <a:latin typeface="思源宋体 CN Heavy" pitchFamily="18" charset="-122"/>
                  <a:ea typeface="思源宋体 CN Heavy" pitchFamily="18" charset="-122"/>
                  <a:cs typeface="仿宋" panose="02010609060101010101" charset="-122"/>
                  <a:sym typeface="仿宋"/>
                </a:rPr>
                <a:t>烹饪方法的差异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09af6723c91d409d"/>
              </p:custDataLst>
            </p:nvPr>
          </p:nvSpPr>
          <p:spPr>
            <a:xfrm>
              <a:off x="3863752" y="4939707"/>
              <a:ext cx="3808025" cy="2800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en-US"/>
              </a:defPPr>
              <a:lvl1pPr>
                <a:defRPr sz="1200">
                  <a:solidFill>
                    <a:srgbClr val="7A4E09">
                      <a:alpha val="60000"/>
                    </a:srgbClr>
                  </a:solidFill>
                  <a:cs typeface="阿里巴巴普惠体" panose="00020600040101010101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DIFFERENCES IN COOKING METHODS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965097" y="1617844"/>
            <a:ext cx="707202" cy="646331"/>
            <a:chOff x="3028993" y="1617844"/>
            <a:chExt cx="707202" cy="646331"/>
          </a:xfrm>
        </p:grpSpPr>
        <p:sp>
          <p:nvSpPr>
            <p:cNvPr id="24" name="缺角矩形 23"/>
            <p:cNvSpPr/>
            <p:nvPr/>
          </p:nvSpPr>
          <p:spPr>
            <a:xfrm>
              <a:off x="3028993" y="1617844"/>
              <a:ext cx="646331" cy="646331"/>
            </a:xfrm>
            <a:prstGeom prst="plaque">
              <a:avLst/>
            </a:prstGeom>
            <a:solidFill>
              <a:srgbClr val="7A4E09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字小魂洪亮毛笔隶书简体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089864" y="1710176"/>
              <a:ext cx="6463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965097" y="2559954"/>
            <a:ext cx="707202" cy="646331"/>
            <a:chOff x="3028993" y="1617844"/>
            <a:chExt cx="707202" cy="646331"/>
          </a:xfrm>
        </p:grpSpPr>
        <p:sp>
          <p:nvSpPr>
            <p:cNvPr id="28" name="缺角矩形 27"/>
            <p:cNvSpPr/>
            <p:nvPr/>
          </p:nvSpPr>
          <p:spPr>
            <a:xfrm>
              <a:off x="3028993" y="1617844"/>
              <a:ext cx="646331" cy="646331"/>
            </a:xfrm>
            <a:prstGeom prst="plaque">
              <a:avLst/>
            </a:prstGeom>
            <a:solidFill>
              <a:srgbClr val="7A4E09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字小魂洪亮毛笔隶书简体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089864" y="1710176"/>
              <a:ext cx="6463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65097" y="3510094"/>
            <a:ext cx="707202" cy="646331"/>
            <a:chOff x="3028993" y="1617844"/>
            <a:chExt cx="707202" cy="646331"/>
          </a:xfrm>
        </p:grpSpPr>
        <p:sp>
          <p:nvSpPr>
            <p:cNvPr id="31" name="缺角矩形 30"/>
            <p:cNvSpPr/>
            <p:nvPr/>
          </p:nvSpPr>
          <p:spPr>
            <a:xfrm>
              <a:off x="3028993" y="1617844"/>
              <a:ext cx="646331" cy="646331"/>
            </a:xfrm>
            <a:prstGeom prst="plaque">
              <a:avLst/>
            </a:prstGeom>
            <a:solidFill>
              <a:srgbClr val="7A4E09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字小魂洪亮毛笔隶书简体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089864" y="1710176"/>
              <a:ext cx="6463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965097" y="4445042"/>
            <a:ext cx="707202" cy="646331"/>
            <a:chOff x="3028993" y="1617844"/>
            <a:chExt cx="707202" cy="646331"/>
          </a:xfrm>
        </p:grpSpPr>
        <p:sp>
          <p:nvSpPr>
            <p:cNvPr id="34" name="缺角矩形 33"/>
            <p:cNvSpPr/>
            <p:nvPr/>
          </p:nvSpPr>
          <p:spPr>
            <a:xfrm>
              <a:off x="3028993" y="1617844"/>
              <a:ext cx="646331" cy="646331"/>
            </a:xfrm>
            <a:prstGeom prst="plaque">
              <a:avLst/>
            </a:prstGeom>
            <a:solidFill>
              <a:srgbClr val="7A4E09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字小魂洪亮毛笔隶书简体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089864" y="1710176"/>
              <a:ext cx="6463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78304" y="2828835"/>
            <a:ext cx="885825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两种不同的饮食观念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79600" y="1990581"/>
            <a:ext cx="245565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XX部分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23032" y="4055432"/>
            <a:ext cx="4945936" cy="22597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/>
            <a:r>
              <a:rPr lang="zh-CN" altLang="en-US" sz="1200" dirty="0">
                <a:solidFill>
                  <a:srgbClr val="7A4E09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TWO DIFFERENT DIETARY CONCEPTS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两种不同的饮食观念</a:t>
            </a:r>
          </a:p>
        </p:txBody>
      </p:sp>
      <p:pic>
        <p:nvPicPr>
          <p:cNvPr id="3" name="图片 2" descr="51miz-E1158478-D177D682"/>
          <p:cNvPicPr>
            <a:picLocks noChangeAspect="1"/>
          </p:cNvPicPr>
          <p:nvPr/>
        </p:nvPicPr>
        <p:blipFill>
          <a:blip r:embed="R92c854a5943a4d7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0370" y="1844675"/>
            <a:ext cx="4215765" cy="4215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19605" y="3097530"/>
            <a:ext cx="6400800" cy="1209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中国人是很重视“吃”的，“民以食为天”这句谚语就说明我们把吃看得与天一样重要。由于我们这个民族几千年来都处于低下的生产力水平，人们总是吃不饱，所以才会有一种独特的把吃看得重于一切的饮食文化，这大概是出于一种生存需要。</a:t>
            </a:r>
          </a:p>
        </p:txBody>
      </p:sp>
      <p:pic>
        <p:nvPicPr>
          <p:cNvPr id="6" name="图片 5" descr="51miz-E864591-7DE2AF87"/>
          <p:cNvPicPr>
            <a:picLocks noChangeAspect="1"/>
          </p:cNvPicPr>
          <p:nvPr/>
        </p:nvPicPr>
        <p:blipFill>
          <a:blip r:embed="R7567931ff8b546c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410" y="3148330"/>
            <a:ext cx="843915" cy="8280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19605" y="4897120"/>
            <a:ext cx="6400800" cy="1185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但是如果一种文化把吃看成首要的事，那么就会出现两种现象：一方面会把这种吃的功能发挥到极致，不仅维持生存，也利用它维持健康，这也就是”药补不如食补”的文化基础；另一方面，对吃的过份重视，会使人推崇对美味的追求。</a:t>
            </a:r>
          </a:p>
        </p:txBody>
      </p:sp>
      <p:pic>
        <p:nvPicPr>
          <p:cNvPr id="10" name="图片 9" descr="51miz-E864591-7DE2AF87"/>
          <p:cNvPicPr>
            <a:picLocks noChangeAspect="1"/>
          </p:cNvPicPr>
          <p:nvPr/>
        </p:nvPicPr>
        <p:blipFill>
          <a:blip r:embed="R7567931ff8b546c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410" y="4947920"/>
            <a:ext cx="843915" cy="8280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19605" y="1976755"/>
            <a:ext cx="6400800" cy="3450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中国人注重“天人合一”，西方人注重“以人为本”。 </a:t>
            </a:r>
          </a:p>
        </p:txBody>
      </p:sp>
      <p:pic>
        <p:nvPicPr>
          <p:cNvPr id="13" name="图片 12" descr="51miz-E864591-7DE2AF87"/>
          <p:cNvPicPr>
            <a:picLocks noChangeAspect="1"/>
          </p:cNvPicPr>
          <p:nvPr/>
        </p:nvPicPr>
        <p:blipFill>
          <a:blip r:embed="R7567931ff8b546c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410" y="1679575"/>
            <a:ext cx="843915" cy="8280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两种不同的饮食观念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53795" y="1917700"/>
            <a:ext cx="2251075" cy="3166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在中国的烹调术中，对美味追求几乎达到极致，遗憾的是，当我们把追求美味作为XX要求时，我们却忽略了食物最根本的营养价值，我们的很多传统食品都要经过热油炸和长时间的文火饨煮，使菜肴的营养成分受到破坏，许多营养成分都损失在加工过程中了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54735" y="1772920"/>
            <a:ext cx="2448560" cy="4401185"/>
            <a:chOff x="2003" y="3019"/>
            <a:chExt cx="3856" cy="6931"/>
          </a:xfrm>
        </p:grpSpPr>
        <p:sp>
          <p:nvSpPr>
            <p:cNvPr id="4" name="矩形 3"/>
            <p:cNvSpPr/>
            <p:nvPr/>
          </p:nvSpPr>
          <p:spPr>
            <a:xfrm>
              <a:off x="2003" y="3019"/>
              <a:ext cx="3856" cy="6690"/>
            </a:xfrm>
            <a:prstGeom prst="rect">
              <a:avLst/>
            </a:prstGeom>
            <a:noFill/>
            <a:ln>
              <a:solidFill>
                <a:srgbClr val="C0A87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6" name="图片 5" descr="51miz-E1224659-3A107C3F"/>
            <p:cNvPicPr>
              <a:picLocks noChangeAspect="1"/>
            </p:cNvPicPr>
            <p:nvPr/>
          </p:nvPicPr>
          <p:blipFill>
            <a:blip r:embed="R1589d46251e145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11" y="8009"/>
              <a:ext cx="1941" cy="1941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4632960" y="1917700"/>
            <a:ext cx="2251075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因而一说到营养问题，实际上就触及到了中国饮食文化的最大弱点。</a:t>
            </a:r>
          </a:p>
        </p:txBody>
      </p:sp>
      <p:sp>
        <p:nvSpPr>
          <p:cNvPr id="12" name="矩形 11"/>
          <p:cNvSpPr/>
          <p:nvPr>
            <p:custDataLst>
              <p:tags r:id="R461a326febf14365"/>
            </p:custDataLst>
          </p:nvPr>
        </p:nvSpPr>
        <p:spPr>
          <a:xfrm>
            <a:off x="4534218" y="1772920"/>
            <a:ext cx="2448560" cy="1864360"/>
          </a:xfrm>
          <a:prstGeom prst="rect">
            <a:avLst/>
          </a:prstGeom>
          <a:noFill/>
          <a:ln>
            <a:solidFill>
              <a:srgbClr val="C0A8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32960" y="4301490"/>
            <a:ext cx="2251075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民间有句俗话：“民以食为天，食以味为先”。就是这种对美味的追求，倒使我们忽略了吃饭的真正意义。 </a:t>
            </a:r>
          </a:p>
        </p:txBody>
      </p:sp>
      <p:sp>
        <p:nvSpPr>
          <p:cNvPr id="17" name="矩形 16"/>
          <p:cNvSpPr/>
          <p:nvPr>
            <p:custDataLst>
              <p:tags r:id="R359c8a13265641c7"/>
            </p:custDataLst>
          </p:nvPr>
        </p:nvSpPr>
        <p:spPr>
          <a:xfrm>
            <a:off x="4534218" y="4156710"/>
            <a:ext cx="2448560" cy="1864360"/>
          </a:xfrm>
          <a:prstGeom prst="rect">
            <a:avLst/>
          </a:prstGeom>
          <a:noFill/>
          <a:ln>
            <a:solidFill>
              <a:srgbClr val="C0A8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pic>
        <p:nvPicPr>
          <p:cNvPr id="2" name="图片 1" descr="51miz-E1229969-238C6C49"/>
          <p:cNvPicPr>
            <a:picLocks noChangeAspect="1"/>
          </p:cNvPicPr>
          <p:nvPr/>
        </p:nvPicPr>
        <p:blipFill>
          <a:blip r:embed="R79e2d25174ea4fa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6135" y="1574800"/>
            <a:ext cx="4599305" cy="459930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两种不同的饮食观念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956675" y="51625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40145" y="2493010"/>
            <a:ext cx="4517390" cy="2331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中国人在品尝菜肴时，往往会说这盘菜“好吃”，那道菜“不好吃”；然而若要进一步问一下什么叫“好吃”，为什么“好吃”，“好吃”在哪里，恐怕就不容易说清楚了。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这说明，中国人对饮食追求的是人们通常所说的“色、香、味、形、器”。</a:t>
            </a:r>
          </a:p>
        </p:txBody>
      </p:sp>
      <p:pic>
        <p:nvPicPr>
          <p:cNvPr id="5" name="图片 4" descr="51miz-E1140607-283E2BBE"/>
          <p:cNvPicPr>
            <a:picLocks noChangeAspect="1"/>
          </p:cNvPicPr>
          <p:nvPr/>
        </p:nvPicPr>
        <p:blipFill>
          <a:blip r:embed="R77b17111e4654cf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3660" y="1844675"/>
            <a:ext cx="4691380" cy="351853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两种不同的饮食观念</a:t>
            </a: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idx="4294967295"/>
          </p:nvPr>
        </p:nvSpPr>
        <p:spPr>
          <a:xfrm>
            <a:off x="927100" y="2812415"/>
            <a:ext cx="3279775" cy="1691005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对比注重“味”的中国饮食，西方是一种理性饮食观念。不论食物的色、香、味、形如何，而营养一定要得到保证，讲究一天要摄取多少热量、维生素、蛋白质等等。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956675" y="51625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</p:txBody>
      </p:sp>
      <p:pic>
        <p:nvPicPr>
          <p:cNvPr id="4" name="图片 3" descr="光盘11"/>
          <p:cNvPicPr>
            <a:picLocks noChangeAspect="1"/>
          </p:cNvPicPr>
          <p:nvPr/>
        </p:nvPicPr>
        <p:blipFill>
          <a:blip r:embed="R3da8ca660272474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6585" y="1988820"/>
            <a:ext cx="3338195" cy="3338195"/>
          </a:xfrm>
          <a:prstGeom prst="rect">
            <a:avLst/>
          </a:prstGeom>
        </p:spPr>
      </p:pic>
      <p:sp>
        <p:nvSpPr>
          <p:cNvPr id="5" name="Rectangle 3"/>
          <p:cNvSpPr>
            <a:spLocks noGrp="1" noRot="1" noChangeArrowheads="1"/>
          </p:cNvSpPr>
          <p:nvPr/>
        </p:nvSpPr>
        <p:spPr>
          <a:xfrm>
            <a:off x="7984490" y="2972435"/>
            <a:ext cx="3279775" cy="13709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即便口味千篇一律，也一定要吃下去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rPr>
              <a:t>因为有营养。这一饮食观念同西方整个哲学体系是相适应的。形而上学是西方哲学的主要特点。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7528" y="2829202"/>
            <a:ext cx="888555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中西饮食对象的差异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44688" y="1916832"/>
            <a:ext cx="227855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第二部分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91188" y="4083596"/>
            <a:ext cx="6198235" cy="292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dist">
              <a:defRPr sz="1200">
                <a:solidFill>
                  <a:srgbClr val="7A4E09">
                    <a:alpha val="60000"/>
                  </a:srgbClr>
                </a:solidFill>
                <a:cs typeface="阿里巴巴普惠体" panose="00020600040101010101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DIFFERENCES BETWEEN CHINESE AND WESTERN DIETARY OBJECTS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中西饮食对象的差异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712085" y="1797685"/>
            <a:ext cx="3437890" cy="2416810"/>
            <a:chOff x="2343" y="2943"/>
            <a:chExt cx="5414" cy="3806"/>
          </a:xfrm>
        </p:grpSpPr>
        <p:sp>
          <p:nvSpPr>
            <p:cNvPr id="3" name="矩形 2"/>
            <p:cNvSpPr/>
            <p:nvPr/>
          </p:nvSpPr>
          <p:spPr>
            <a:xfrm>
              <a:off x="2343" y="2943"/>
              <a:ext cx="5414" cy="3807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solidFill>
                <a:srgbClr val="A969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637" y="3454"/>
              <a:ext cx="4827" cy="27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  <a:sym typeface="+mn-ea"/>
                </a:rPr>
                <a:t>各民族的饮食结构存在很大的差异，起决定作用的主要是人们的经济生活。俗话说：“靠山吃山，靠水吃水”。中国汉民族生活的大部分地区以农业经济为主体，以蔬菜及植物性事食物为主，外加少量肉食。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149975" y="3430270"/>
            <a:ext cx="3437890" cy="2417445"/>
            <a:chOff x="9600" y="5778"/>
            <a:chExt cx="5414" cy="3807"/>
          </a:xfrm>
        </p:grpSpPr>
        <p:sp>
          <p:nvSpPr>
            <p:cNvPr id="10" name="矩形 9"/>
            <p:cNvSpPr/>
            <p:nvPr>
              <p:custDataLst>
                <p:tags r:id="Rad6d088449c24250"/>
              </p:custDataLst>
            </p:nvPr>
          </p:nvSpPr>
          <p:spPr>
            <a:xfrm>
              <a:off x="9600" y="5778"/>
              <a:ext cx="5414" cy="3807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solidFill>
                <a:srgbClr val="A969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04630a2a4ba24d0e"/>
              </p:custDataLst>
            </p:nvPr>
          </p:nvSpPr>
          <p:spPr>
            <a:xfrm>
              <a:off x="9894" y="7169"/>
              <a:ext cx="4827" cy="9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  <a:sym typeface="+mn-ea"/>
                </a:rPr>
                <a:t>而西方社会主要以游牧为主，多以肉食和乳制品为主，辅以蔬菜和粮食。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712085" y="3890645"/>
            <a:ext cx="3437890" cy="2372360"/>
            <a:chOff x="4271" y="6127"/>
            <a:chExt cx="5414" cy="3736"/>
          </a:xfrm>
        </p:grpSpPr>
        <p:sp>
          <p:nvSpPr>
            <p:cNvPr id="18" name="矩形 17"/>
            <p:cNvSpPr/>
            <p:nvPr>
              <p:custDataLst>
                <p:tags r:id="R0dc1252a6e0d4765"/>
              </p:custDataLst>
            </p:nvPr>
          </p:nvSpPr>
          <p:spPr>
            <a:xfrm>
              <a:off x="4271" y="6638"/>
              <a:ext cx="5414" cy="2554"/>
            </a:xfrm>
            <a:prstGeom prst="rect">
              <a:avLst/>
            </a:prstGeom>
            <a:solidFill>
              <a:srgbClr val="C0A87F"/>
            </a:solidFill>
            <a:ln>
              <a:solidFill>
                <a:srgbClr val="A969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15" name="图片 14" descr="51miz-E1146341-0790D4DB"/>
            <p:cNvPicPr>
              <a:picLocks noChangeAspect="1"/>
            </p:cNvPicPr>
            <p:nvPr/>
          </p:nvPicPr>
          <p:blipFill>
            <a:blip r:embed="R4a612c0c5dd24ef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51" y="6127"/>
              <a:ext cx="3736" cy="3736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6149975" y="1268730"/>
            <a:ext cx="3437890" cy="2366010"/>
            <a:chOff x="9685" y="1998"/>
            <a:chExt cx="5414" cy="3726"/>
          </a:xfrm>
        </p:grpSpPr>
        <p:sp>
          <p:nvSpPr>
            <p:cNvPr id="17" name="矩形 16"/>
            <p:cNvSpPr/>
            <p:nvPr>
              <p:custDataLst>
                <p:tags r:id="R3148b0f7b6c74086"/>
              </p:custDataLst>
            </p:nvPr>
          </p:nvSpPr>
          <p:spPr>
            <a:xfrm>
              <a:off x="9685" y="2832"/>
              <a:ext cx="5414" cy="2570"/>
            </a:xfrm>
            <a:prstGeom prst="rect">
              <a:avLst/>
            </a:prstGeom>
            <a:solidFill>
              <a:srgbClr val="C0A87F"/>
            </a:solidFill>
            <a:ln>
              <a:solidFill>
                <a:srgbClr val="A969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16" name="图片 15" descr="51miz-E1180909-9EE84CF0"/>
            <p:cNvPicPr>
              <a:picLocks noChangeAspect="1"/>
            </p:cNvPicPr>
            <p:nvPr/>
          </p:nvPicPr>
          <p:blipFill>
            <a:blip r:embed="R2e7d943bc5a6416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07" y="1998"/>
              <a:ext cx="3726" cy="3726"/>
            </a:xfrm>
            <a:prstGeom prst="rect">
              <a:avLst/>
            </a:prstGeom>
          </p:spPr>
        </p:pic>
      </p:grpSp>
      <p:pic>
        <p:nvPicPr>
          <p:cNvPr id="22" name="图片 21" descr="51miz-E1213770-88110731"/>
          <p:cNvPicPr>
            <a:picLocks noChangeAspect="1"/>
          </p:cNvPicPr>
          <p:nvPr/>
        </p:nvPicPr>
        <p:blipFill>
          <a:blip r:embed="R8382c1dcdc834a9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39470" y="4149090"/>
            <a:ext cx="2765425" cy="1548765"/>
          </a:xfrm>
          <a:prstGeom prst="rect">
            <a:avLst/>
          </a:prstGeom>
        </p:spPr>
      </p:pic>
      <p:pic>
        <p:nvPicPr>
          <p:cNvPr id="23" name="图片 22" descr="51miz-E1213770-88110731"/>
          <p:cNvPicPr>
            <a:picLocks noChangeAspect="1"/>
          </p:cNvPicPr>
          <p:nvPr/>
        </p:nvPicPr>
        <p:blipFill>
          <a:blip r:embed="R8382c1dcdc834a9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44560" y="1124585"/>
            <a:ext cx="2765425" cy="154876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78304" y="2924944"/>
            <a:ext cx="885825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饮食方式的不同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79600" y="1990581"/>
            <a:ext cx="245565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第三部分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23032" y="4151541"/>
            <a:ext cx="4945936" cy="22597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dist">
              <a:defRPr sz="1200">
                <a:solidFill>
                  <a:srgbClr val="7A4E09">
                    <a:alpha val="60000"/>
                  </a:srgbClr>
                </a:solidFill>
                <a:cs typeface="阿里巴巴普惠体" panose="00020600040101010101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DIFFERENCES IN DIETARY HABITS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饮食方式的不同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idx="4294967295"/>
          </p:nvPr>
        </p:nvSpPr>
        <p:spPr>
          <a:xfrm>
            <a:off x="3545840" y="1801495"/>
            <a:ext cx="5003165" cy="4046220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民族的用餐形式也有很大不同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中国人发明了筷子这种独特的工具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而西方国家普遍使用刀叉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这与各民族的饮食对象的不同有关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试想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是用刀叉吃饭方便还是用筷子方便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是用刀切肉方便还是用筷子方便</a:t>
            </a:r>
          </a:p>
          <a:p>
            <a:pPr marL="0" indent="0"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答案不说大家也都知道</a:t>
            </a:r>
          </a:p>
        </p:txBody>
      </p:sp>
      <p:pic>
        <p:nvPicPr>
          <p:cNvPr id="3" name="图片 2" descr="51miz-E880597-9FFC0F65"/>
          <p:cNvPicPr>
            <a:picLocks noChangeAspect="1"/>
          </p:cNvPicPr>
          <p:nvPr/>
        </p:nvPicPr>
        <p:blipFill>
          <a:blip r:embed="R29e3a2b1fb7e441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0370" y="2421255"/>
            <a:ext cx="2806700" cy="2806700"/>
          </a:xfrm>
          <a:prstGeom prst="rect">
            <a:avLst/>
          </a:prstGeom>
        </p:spPr>
      </p:pic>
      <p:pic>
        <p:nvPicPr>
          <p:cNvPr id="5" name="图片 4" descr="51miz-E1137045-9864FE50"/>
          <p:cNvPicPr>
            <a:picLocks noChangeAspect="1"/>
          </p:cNvPicPr>
          <p:nvPr/>
        </p:nvPicPr>
        <p:blipFill>
          <a:blip r:embed="Re967456a76294ab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125" y="2297430"/>
            <a:ext cx="3054350" cy="305435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 tmFilter="0,0; .5, 1; 1, 1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 tmFilter="0,0; .5, 1; 1, 1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饮食方式的不同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16725" y="3284855"/>
            <a:ext cx="4050030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在另一方面，中国主要实行聚餐制，这主要由于在魏晋南北朝以后，家族观念不断强化，共食、同居、共财成了家族孝涕和睦的标志，是家族凝聚力的纽带，于是“团坐伙食”的用餐方式便得到人们的普遍认同。</a:t>
            </a:r>
          </a:p>
        </p:txBody>
      </p:sp>
      <p:pic>
        <p:nvPicPr>
          <p:cNvPr id="6" name="图片 5" descr="51miz-E1282280-12D51BB8"/>
          <p:cNvPicPr>
            <a:picLocks noChangeAspect="1"/>
          </p:cNvPicPr>
          <p:nvPr/>
        </p:nvPicPr>
        <p:blipFill>
          <a:blip r:embed="R9e43aeab96fc4c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15" y="1412875"/>
            <a:ext cx="6012180" cy="450913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饮食方式的不同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43925" y="2924810"/>
            <a:ext cx="2672080" cy="2327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就餐者各取一套餐具，从已准备好的食物中各取所需，不必固定座位，可以自由走动。这种用餐方式不仅可以充分满足个人对食物的喜好，还便于社交，便于个人之间的情感与信息的交流，而不必在餐桌上将所有的活动公之于众。</a:t>
            </a:r>
          </a:p>
        </p:txBody>
      </p:sp>
      <p:pic>
        <p:nvPicPr>
          <p:cNvPr id="6" name="图片 5" descr="51miz-E1287032-E164E49A"/>
          <p:cNvPicPr>
            <a:picLocks noChangeAspect="1"/>
          </p:cNvPicPr>
          <p:nvPr/>
        </p:nvPicPr>
        <p:blipFill>
          <a:blip r:embed="R84e68a035f4342c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5685" y="2421255"/>
            <a:ext cx="4588510" cy="3441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6445" y="2924810"/>
            <a:ext cx="2672080" cy="1209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在西式宴会上，虽也围坐，但各人的食物是单盘独碟的。西方分餐制中最典型的一种形式，就是自助餐。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728210" y="1938020"/>
            <a:ext cx="2672080" cy="3812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西方人习惯于分而食之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饮食方式的不同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448300" y="-891540"/>
            <a:ext cx="4852670" cy="1317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ct val="0"/>
              </a:spcAft>
              <a:buNone/>
            </a:pPr>
            <a:endParaRPr lang="zh-CN" altLang="en-US" sz="1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6" name="图片 5" descr="51miz-E1151102-1F50993B"/>
          <p:cNvPicPr>
            <a:picLocks noChangeAspect="1"/>
          </p:cNvPicPr>
          <p:nvPr/>
        </p:nvPicPr>
        <p:blipFill>
          <a:blip r:embed="R70f0164242ea42a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860" y="1772920"/>
            <a:ext cx="3921125" cy="3921125"/>
          </a:xfrm>
          <a:prstGeom prst="rect">
            <a:avLst/>
          </a:prstGeom>
        </p:spPr>
      </p:pic>
      <p:pic>
        <p:nvPicPr>
          <p:cNvPr id="7" name="图片 6" descr="51miz-E867303-A3F9EDF8"/>
          <p:cNvPicPr>
            <a:picLocks noChangeAspect="1"/>
          </p:cNvPicPr>
          <p:nvPr/>
        </p:nvPicPr>
        <p:blipFill>
          <a:blip r:embed="R732f4a5c8e4d495e"/>
          <a:stretch>
            <a:fillRect/>
          </a:stretch>
        </p:blipFill>
        <p:spPr>
          <a:xfrm>
            <a:off x="4591050" y="3174365"/>
            <a:ext cx="6122035" cy="10541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80380" y="2322830"/>
            <a:ext cx="5132705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0000"/>
              </a:lnSpc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所以在西式饮宴上，食物只是一种手段和陪衬，而不是全部的目的，宴会的核心在于交谊。这种用餐方式充分体现了西方人对个性、对自我的尊重，强调了个人的独立和自主。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80380" y="4150360"/>
            <a:ext cx="5132705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0000"/>
              </a:lnSpc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在这一点上与中国的大一统文化模式是截然不同的。特别是自文艺复兴运动以来，西方社会大力提倡平等、自由、人权、个性解放等精神，使人的个性及自由意识得到极大的张扬，造成了一种强调个性自由发展的文化环境。更重要的是，这种用餐方式文明、卫生，符合科学精神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78304" y="2924944"/>
            <a:ext cx="885825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烹饪方法的差异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79600" y="2060848"/>
            <a:ext cx="245565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  <a:sym typeface="+mn-ea"/>
              </a:rPr>
              <a:t>第四部分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97733" y="4151541"/>
            <a:ext cx="5596533" cy="2556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dist">
              <a:defRPr sz="1200">
                <a:solidFill>
                  <a:srgbClr val="7A4E09">
                    <a:alpha val="60000"/>
                  </a:srgbClr>
                </a:solidFill>
                <a:cs typeface="阿里巴巴普惠体" panose="00020600040101010101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DIFFERENCES BETWEEN CHINESE AND WESTERN DIETARY OBJECTS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烹饪方法的差异</a:t>
            </a:r>
          </a:p>
        </p:txBody>
      </p:sp>
      <p:pic>
        <p:nvPicPr>
          <p:cNvPr id="7" name="图片 6" descr="51miz-E1233559-2D9CB792"/>
          <p:cNvPicPr>
            <a:picLocks noChangeAspect="1"/>
          </p:cNvPicPr>
          <p:nvPr/>
        </p:nvPicPr>
        <p:blipFill>
          <a:blip r:embed="Rad7e17276db14c4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82295" y="1988185"/>
            <a:ext cx="6030595" cy="376936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088255" y="3932555"/>
            <a:ext cx="6120765" cy="1511935"/>
            <a:chOff x="8013" y="5854"/>
            <a:chExt cx="9639" cy="2381"/>
          </a:xfrm>
        </p:grpSpPr>
        <p:sp>
          <p:nvSpPr>
            <p:cNvPr id="6" name="文本框 5"/>
            <p:cNvSpPr txBox="1"/>
            <p:nvPr/>
          </p:nvSpPr>
          <p:spPr>
            <a:xfrm>
              <a:off x="8580" y="6092"/>
              <a:ext cx="8484" cy="190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烹调之于中国，简直与音乐、舞蹈、诗歌、绘画一样，拥有提高人生境界的伟大意义。中国烹饪方法奇多：溜、焖、烧、汆、蒸、炸、酥、烩、扒、炖、爆、炒、砂锅、拔丝等无所不有，做出的菜肴更是让人眼花缭乱。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8013" y="5854"/>
              <a:ext cx="9639" cy="2381"/>
            </a:xfrm>
            <a:prstGeom prst="rect">
              <a:avLst/>
            </a:prstGeom>
            <a:noFill/>
            <a:ln>
              <a:solidFill>
                <a:srgbClr val="A9690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107940" y="2132330"/>
            <a:ext cx="6120765" cy="1511935"/>
            <a:chOff x="8013" y="5854"/>
            <a:chExt cx="9639" cy="2381"/>
          </a:xfrm>
        </p:grpSpPr>
        <p:sp>
          <p:nvSpPr>
            <p:cNvPr id="11" name="文本框 10"/>
            <p:cNvSpPr txBox="1"/>
            <p:nvPr>
              <p:custDataLst>
                <p:tags r:id="Rdf337a96988e4dc7"/>
              </p:custDataLst>
            </p:nvPr>
          </p:nvSpPr>
          <p:spPr>
            <a:xfrm>
              <a:off x="8580" y="6532"/>
              <a:ext cx="8484" cy="9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在中国，烹调是一种艺术，它以极强烈的趣味性，甚至还带有一定的游戏性，吸引着以饮食为人生之至乐的中国人。</a:t>
              </a:r>
            </a:p>
          </p:txBody>
        </p:sp>
        <p:sp>
          <p:nvSpPr>
            <p:cNvPr id="12" name="矩形 11"/>
            <p:cNvSpPr/>
            <p:nvPr>
              <p:custDataLst>
                <p:tags r:id="R653a575044bb41c5"/>
              </p:custDataLst>
            </p:nvPr>
          </p:nvSpPr>
          <p:spPr>
            <a:xfrm>
              <a:off x="8013" y="5854"/>
              <a:ext cx="9639" cy="2381"/>
            </a:xfrm>
            <a:prstGeom prst="rect">
              <a:avLst/>
            </a:prstGeom>
            <a:noFill/>
            <a:ln>
              <a:solidFill>
                <a:srgbClr val="A9690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烹饪方法的差异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98320" y="2634615"/>
            <a:ext cx="5097145" cy="6251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中餐工艺的变化较为复杂，很多菜点都费工费时，点缀过多，进盘的很多不能食用，不但造成原料的浪费，而且效果未必好。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98320" y="4460875"/>
            <a:ext cx="5097145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中国厨行有句话：“厨师三分艺，用料七分功”强调厨师个人对原料的选择、分档使用的重要性，也就是原料的标准对菜肴的出品起着决定性的作用。</a:t>
            </a:r>
          </a:p>
        </p:txBody>
      </p:sp>
      <p:pic>
        <p:nvPicPr>
          <p:cNvPr id="7" name="图片 6" descr="51miz-E751786-5546A7BD"/>
          <p:cNvPicPr>
            <a:picLocks noChangeAspect="1"/>
          </p:cNvPicPr>
          <p:nvPr/>
        </p:nvPicPr>
        <p:blipFill>
          <a:blip r:embed="Ra74b8027ec094d9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8480" y="1367155"/>
            <a:ext cx="4700270" cy="4700270"/>
          </a:xfrm>
          <a:prstGeom prst="rect">
            <a:avLst/>
          </a:prstGeom>
        </p:spPr>
      </p:pic>
      <p:pic>
        <p:nvPicPr>
          <p:cNvPr id="8" name="图片 7" descr="51miz-E857733-77E1337C"/>
          <p:cNvPicPr>
            <a:picLocks noChangeAspect="1"/>
          </p:cNvPicPr>
          <p:nvPr/>
        </p:nvPicPr>
        <p:blipFill>
          <a:blip r:embed="Rcadff01b01cd47b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0173" y="2723515"/>
            <a:ext cx="347980" cy="561340"/>
          </a:xfrm>
          <a:prstGeom prst="rect">
            <a:avLst/>
          </a:prstGeom>
        </p:spPr>
      </p:pic>
      <p:pic>
        <p:nvPicPr>
          <p:cNvPr id="9" name="图片 8" descr="51miz-E857733-77E1337C"/>
          <p:cNvPicPr>
            <a:picLocks noChangeAspect="1"/>
          </p:cNvPicPr>
          <p:nvPr/>
        </p:nvPicPr>
        <p:blipFill>
          <a:blip r:embed="Rcadff01b01cd47b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0173" y="4460875"/>
            <a:ext cx="347980" cy="56134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1344295" y="3887470"/>
            <a:ext cx="5328285" cy="0"/>
          </a:xfrm>
          <a:prstGeom prst="line">
            <a:avLst/>
          </a:prstGeom>
          <a:ln>
            <a:solidFill>
              <a:srgbClr val="A9690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烹饪方法的差异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45845" y="1675130"/>
            <a:ext cx="5168900" cy="2023110"/>
            <a:chOff x="1662" y="2107"/>
            <a:chExt cx="8140" cy="3186"/>
          </a:xfrm>
        </p:grpSpPr>
        <p:sp>
          <p:nvSpPr>
            <p:cNvPr id="8" name="矩形 7"/>
            <p:cNvSpPr/>
            <p:nvPr/>
          </p:nvSpPr>
          <p:spPr>
            <a:xfrm>
              <a:off x="2796" y="2225"/>
              <a:ext cx="7007" cy="2948"/>
            </a:xfrm>
            <a:prstGeom prst="rect">
              <a:avLst/>
            </a:prstGeom>
            <a:noFill/>
            <a:ln>
              <a:solidFill>
                <a:srgbClr val="A9690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5" name="图片 4" descr="51miz-E1085138-DCA5D759"/>
            <p:cNvPicPr>
              <a:picLocks noChangeAspect="1"/>
            </p:cNvPicPr>
            <p:nvPr/>
          </p:nvPicPr>
          <p:blipFill>
            <a:blip r:embed="R3e4e8b60738c46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62" y="2107"/>
              <a:ext cx="2215" cy="318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6384290" y="1744980"/>
            <a:ext cx="4871085" cy="1877060"/>
            <a:chOff x="11528" y="1998"/>
            <a:chExt cx="7671" cy="2956"/>
          </a:xfrm>
        </p:grpSpPr>
        <p:sp>
          <p:nvSpPr>
            <p:cNvPr id="11" name="矩形 10"/>
            <p:cNvSpPr/>
            <p:nvPr>
              <p:custDataLst>
                <p:tags r:id="Rcaff49564c954ae8"/>
              </p:custDataLst>
            </p:nvPr>
          </p:nvSpPr>
          <p:spPr>
            <a:xfrm>
              <a:off x="12193" y="2006"/>
              <a:ext cx="7007" cy="2948"/>
            </a:xfrm>
            <a:prstGeom prst="rect">
              <a:avLst/>
            </a:prstGeom>
            <a:noFill/>
            <a:ln>
              <a:solidFill>
                <a:srgbClr val="A9690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6" name="图片 5" descr="51miz-E1085138-DCA5D759"/>
            <p:cNvPicPr>
              <a:picLocks noChangeAspect="1"/>
            </p:cNvPicPr>
            <p:nvPr>
              <p:custDataLst>
                <p:tags r:id="R516fdba3c30a4d73"/>
              </p:custDataLst>
            </p:nvPr>
          </p:nvPicPr>
          <p:blipFill>
            <a:blip r:embed="R6c10abed153f4b9e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1528" y="1998"/>
              <a:ext cx="1814" cy="2956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2558415" y="2081848"/>
            <a:ext cx="3528695" cy="1209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西方人饮食强调科学与营养，烹调的全过程都严格按照科学规范行事，菜肴制作规范化，因而厨师的工作就成为一种极其单调的机械性工作。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98410" y="1965643"/>
            <a:ext cx="3528695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再者，西方人进食的目的首在摄取营养，只要营养够标准，其他尽可宽容，因而今日土豆牛排，明日牛排土豆，厨师在食客一无苛求极其宽容的态度下，每日重复着机械性的工作，当然无趣味可言。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261745" y="3838575"/>
            <a:ext cx="9994900" cy="2195830"/>
            <a:chOff x="2002" y="6988"/>
            <a:chExt cx="15740" cy="3458"/>
          </a:xfrm>
        </p:grpSpPr>
        <p:sp>
          <p:nvSpPr>
            <p:cNvPr id="14" name="矩形 13"/>
            <p:cNvSpPr/>
            <p:nvPr>
              <p:custDataLst>
                <p:tags r:id="R5a2f60de22e24e6c"/>
              </p:custDataLst>
            </p:nvPr>
          </p:nvSpPr>
          <p:spPr>
            <a:xfrm>
              <a:off x="2796" y="7728"/>
              <a:ext cx="14946" cy="2321"/>
            </a:xfrm>
            <a:prstGeom prst="rect">
              <a:avLst/>
            </a:prstGeom>
            <a:noFill/>
            <a:ln>
              <a:solidFill>
                <a:srgbClr val="A9690C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pic>
          <p:nvPicPr>
            <p:cNvPr id="7" name="图片 6" descr="51miz-E1085138-DCA5D759"/>
            <p:cNvPicPr>
              <a:picLocks noChangeAspect="1"/>
            </p:cNvPicPr>
            <p:nvPr>
              <p:custDataLst>
                <p:tags r:id="Rb65821d676e34c4c"/>
              </p:custDataLst>
            </p:nvPr>
          </p:nvPicPr>
          <p:blipFill>
            <a:blip r:embed="Re51c24513136495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975"/>
            <a:stretch>
              <a:fillRect/>
            </a:stretch>
          </p:blipFill>
          <p:spPr>
            <a:xfrm>
              <a:off x="2002" y="6988"/>
              <a:ext cx="2387" cy="3458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2990215" y="4720590"/>
            <a:ext cx="7929245" cy="6251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西方的烹饪方法不像中国那样复杂多变，西餐的装盘立体感强，可食性强，所有进盘的食品绝大多数都能食用，点缀品就是主菜的配菜。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烹饪方法的差异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80735" y="2627630"/>
            <a:ext cx="4514215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西餐的原料多选择新鲜、无污染、天然、操作工艺自然的，尽量发挥其本味，干货原料用的不是太多，牛奶在西餐中是不可缺少的原料。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80735" y="4356100"/>
            <a:ext cx="4514215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供应商已根据原料的特点，使其进一步标准化、规范化，厨师不再是单纯根据自己的经验来判断和确定使用哪种原料。</a:t>
            </a:r>
          </a:p>
        </p:txBody>
      </p:sp>
      <p:pic>
        <p:nvPicPr>
          <p:cNvPr id="7" name="图片 6" descr="51miz-E751785-D6E934C3"/>
          <p:cNvPicPr>
            <a:picLocks noChangeAspect="1"/>
          </p:cNvPicPr>
          <p:nvPr/>
        </p:nvPicPr>
        <p:blipFill>
          <a:blip r:embed="R154966e275c34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860" y="1196975"/>
            <a:ext cx="5006340" cy="5006340"/>
          </a:xfrm>
          <a:prstGeom prst="rect">
            <a:avLst/>
          </a:prstGeom>
        </p:spPr>
      </p:pic>
      <p:pic>
        <p:nvPicPr>
          <p:cNvPr id="2" name="墨迹 6"/>
          <p:cNvPicPr/>
          <p:nvPr/>
        </p:nvPicPr>
        <p:blipFill>
          <a:blip r:embed="R7b5e5f247dc8473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1"/>
          <p:cNvPicPr>
            <a:picLocks noChangeAspect="1"/>
          </p:cNvPicPr>
          <p:nvPr/>
        </p:nvPicPr>
        <p:blipFill>
          <a:blip r:embed="R6a46cd805a5d461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4765" y="1196975"/>
            <a:ext cx="12192000" cy="56610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93415" y="1405890"/>
            <a:ext cx="6096000" cy="4046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总而言之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中西方的饮食文化的差异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其主要的原因就是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两种不同的文化背景以及生活观念造成的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</a:endParaRP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因而不能说哪种更好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  <a:sym typeface="+mn-ea"/>
            </a:endParaRP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只能说它更适合某个民族或某个地区的生活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  <a:sym typeface="+mn-ea"/>
            </a:endParaRP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毕竟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charset="-122"/>
              <a:sym typeface="+mn-ea"/>
            </a:endParaRPr>
          </a:p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  <a:sym typeface="+mn-ea"/>
              </a:rPr>
              <a:t>吃还是为了活下去</a:t>
            </a:r>
          </a:p>
        </p:txBody>
      </p:sp>
    </p:spTree>
  </p:cSld>
  <p:clrMapOvr>
    <a:masterClrMapping/>
  </p:clrMapOvr>
  <p:transition spd="slow" advClick="0" advTm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035809" y="2420888"/>
            <a:ext cx="8119745" cy="999490"/>
          </a:xfrm>
        </p:spPr>
        <p:txBody>
          <a:bodyPr vert="horz" wrap="square" lIns="91440" tIns="45720" rIns="91440" bIns="45720" anchor="ctr" anchorCtr="1">
            <a:noAutofit/>
          </a:bodyPr>
          <a:lstStyle>
            <a:lvl1pPr lvl="0">
              <a:buClrTx/>
              <a:buSzTx/>
              <a:buFontTx/>
              <a:defRPr/>
            </a:lvl1pPr>
          </a:lstStyle>
          <a:p>
            <a:pPr lvl="0" algn="dist"/>
            <a:r>
              <a:rPr lang="zh-CN" altLang="en-US" sz="8000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</a:rPr>
              <a:t>谢谢观赏</a:t>
            </a:r>
          </a:p>
        </p:txBody>
      </p:sp>
      <p:sp>
        <p:nvSpPr>
          <p:cNvPr id="4099" name="文本框 3"/>
          <p:cNvSpPr txBox="1"/>
          <p:nvPr/>
        </p:nvSpPr>
        <p:spPr>
          <a:xfrm>
            <a:off x="4622482" y="1556791"/>
            <a:ext cx="31502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dist" eaLnBrk="1" hangingPunct="1">
              <a:buNone/>
            </a:pPr>
            <a:r>
              <a:rPr lang="zh-CN" altLang="en-US" sz="2400" dirty="0">
                <a:solidFill>
                  <a:srgbClr val="7A4E09"/>
                </a:solidFill>
                <a:latin typeface="思源宋体 CN Heavy" pitchFamily="18" charset="-122"/>
                <a:ea typeface="思源宋体 CN Heavy" pitchFamily="18" charset="-122"/>
                <a:cs typeface="仿宋" panose="02010609060101010101" charset="-122"/>
              </a:rPr>
              <a:t>中国饮食文化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351405" y="2116227"/>
            <a:ext cx="7488555" cy="0"/>
          </a:xfrm>
          <a:prstGeom prst="line">
            <a:avLst/>
          </a:prstGeom>
          <a:ln>
            <a:gradFill>
              <a:gsLst>
                <a:gs pos="0">
                  <a:srgbClr val="7A4E09">
                    <a:alpha val="20000"/>
                  </a:srgbClr>
                </a:gs>
                <a:gs pos="38000">
                  <a:srgbClr val="7A4E09"/>
                </a:gs>
                <a:gs pos="70000">
                  <a:srgbClr val="7A4E09"/>
                </a:gs>
                <a:gs pos="100000">
                  <a:srgbClr val="7A4E09">
                    <a:alpha val="20000"/>
                  </a:srgb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3670935" y="4592330"/>
            <a:ext cx="1800225" cy="360045"/>
            <a:chOff x="5702" y="7101"/>
            <a:chExt cx="2835" cy="567"/>
          </a:xfrm>
        </p:grpSpPr>
        <p:sp>
          <p:nvSpPr>
            <p:cNvPr id="5" name="圆角矩形 4"/>
            <p:cNvSpPr/>
            <p:nvPr/>
          </p:nvSpPr>
          <p:spPr>
            <a:xfrm>
              <a:off x="5702" y="7101"/>
              <a:ext cx="2835" cy="567"/>
            </a:xfrm>
            <a:prstGeom prst="roundRect">
              <a:avLst/>
            </a:prstGeom>
            <a:solidFill>
              <a:srgbClr val="C0A8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847" y="7117"/>
              <a:ext cx="2546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日期：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202X.06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722110" y="4592330"/>
            <a:ext cx="1800225" cy="360045"/>
            <a:chOff x="5702" y="7101"/>
            <a:chExt cx="2835" cy="567"/>
          </a:xfrm>
        </p:grpSpPr>
        <p:sp>
          <p:nvSpPr>
            <p:cNvPr id="9" name="圆角矩形 8"/>
            <p:cNvSpPr/>
            <p:nvPr>
              <p:custDataLst>
                <p:tags r:id="R17fb0d8c04bc46a7"/>
              </p:custDataLst>
            </p:nvPr>
          </p:nvSpPr>
          <p:spPr>
            <a:xfrm>
              <a:off x="5702" y="7101"/>
              <a:ext cx="2835" cy="567"/>
            </a:xfrm>
            <a:prstGeom prst="roundRect">
              <a:avLst/>
            </a:prstGeom>
            <a:solidFill>
              <a:srgbClr val="C0A8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7ca9d47132664c66"/>
              </p:custDataLst>
            </p:nvPr>
          </p:nvSpPr>
          <p:spPr>
            <a:xfrm>
              <a:off x="5847" y="7117"/>
              <a:ext cx="254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演讲：XX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charset="-122"/>
                </a:rPr>
                <a:t>PPT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495550" y="3500527"/>
            <a:ext cx="7404100" cy="549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7A4E09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走进餐厅，你会发现许许多风格迥异，吃法不同的地方饮食。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7A4E09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想要了解中西方饮食巨大差异的原因，必须中西方的文化以及生活背景，这就需要对其进行深入的研究。</a:t>
            </a:r>
          </a:p>
        </p:txBody>
      </p:sp>
    </p:spTree>
    <p:extLst>
      <p:ext uri="{BB962C8B-B14F-4D97-AF65-F5344CB8AC3E}">
        <p14:creationId xmlns:p14="http://schemas.microsoft.com/office/powerpoint/2010/main" val="3914000006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7d0af391e41f43a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b466fbb5ea6e4a10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50a541646a284a56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11d9ebb5723c4c0b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50a541646a284a56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3dfc3b9b64f04e838b31148a1a7bb937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ac1ddaf33fa1413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b6b8d5a8006f4e6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2350d8e085b7480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79ed1ffc73943d8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0ea1f472a7f54ef9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f15b3dc6ee904fe1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448178419c8b4082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a1855b2d35f341e9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07cfa08d4e8f4bc4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81771e4cdecc479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7ddb8095680a46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ed81f9725a74c0ba1471a08c5553ad4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fccae333d3a14d8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d0ecc0f5bff14f2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a3afd6e11dcc4e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5f0d11d0d5024195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1be4bbfe2134710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bdf4762290d4c6b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1be4bbfe2134710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cefe826f16742fc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1be4bbfe2134710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865c39bfbd2441b7b88d7dd96815ad8e"/>
              </a:rPr>
              <a:t>部分字体来源于</a:t>
            </a:r>
            <a:r>
              <a:rPr lang="en-US" altLang="zh-CN" dirty="0">
                <a:hlinkClick r:id="R865c39bfbd2441b7b88d7dd96815ad8e"/>
              </a:rPr>
              <a:t>100font.com  </a:t>
            </a:r>
            <a:r>
              <a:rPr lang="zh-CN" altLang="en-US" dirty="0">
                <a:hlinkClick r:id="R865c39bfbd2441b7b88d7dd96815ad8e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eefe29991f5d4e4691c7cd9083776121"/>
              </a:rPr>
              <a:t>部分图标来源于</a:t>
            </a:r>
            <a:r>
              <a:rPr lang="en-US" altLang="zh-CN" dirty="0">
                <a:hlinkClick r:id="Reefe29991f5d4e4691c7cd9083776121"/>
              </a:rPr>
              <a:t>Storyset.com </a:t>
            </a:r>
            <a:r>
              <a:rPr lang="zh-CN" altLang="en-US" dirty="0">
                <a:hlinkClick r:id="Reefe29991f5d4e4691c7cd9083776121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</TotalTime>
  <Words>1785</Words>
  <Application>Microsoft Office PowerPoint</Application>
  <PresentationFormat>宽屏</PresentationFormat>
  <Paragraphs>104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思源宋体 CN Heavy</vt:lpstr>
      <vt:lpstr>微软雅黑</vt:lpstr>
      <vt:lpstr>Arial</vt:lpstr>
      <vt:lpstr>第一PPT，www.1ppt.com</vt:lpstr>
      <vt:lpstr>1_Office 主题​​</vt:lpstr>
      <vt:lpstr>第一PPT，www.1ppt.com </vt:lpstr>
      <vt:lpstr>中西方饮食差异</vt:lpstr>
      <vt:lpstr>    俗话说：“民以食为天” “吃”成了每个人的“必修课” 然而 随着全球化的不断实施 各地的饮食文化也在不断的冲击、融合。      走进餐厅后 你会发现许许多多风格迥异 吃法不同的地方饮食 想要了解带来中西方饮食巨大差异的原因 必须先了解中西方的文化以及生活背景 而这就需要我们对其进行深入的研究</vt:lpstr>
      <vt:lpstr>研究目的</vt:lpstr>
      <vt:lpstr>研究过程</vt:lpstr>
      <vt:lpstr>PowerPoint 演示文稿</vt:lpstr>
      <vt:lpstr>PowerPoint 演示文稿</vt:lpstr>
      <vt:lpstr>两种不同的饮食观念</vt:lpstr>
      <vt:lpstr>两种不同的饮食观念</vt:lpstr>
      <vt:lpstr>两种不同的饮食观念</vt:lpstr>
      <vt:lpstr>两种不同的饮食观念</vt:lpstr>
      <vt:lpstr>PowerPoint 演示文稿</vt:lpstr>
      <vt:lpstr>中西饮食对象的差异</vt:lpstr>
      <vt:lpstr>PowerPoint 演示文稿</vt:lpstr>
      <vt:lpstr>饮食方式的不同</vt:lpstr>
      <vt:lpstr>饮食方式的不同</vt:lpstr>
      <vt:lpstr>饮食方式的不同</vt:lpstr>
      <vt:lpstr>饮食方式的不同</vt:lpstr>
      <vt:lpstr>PowerPoint 演示文稿</vt:lpstr>
      <vt:lpstr>烹饪方法的差异</vt:lpstr>
      <vt:lpstr>烹饪方法的差异</vt:lpstr>
      <vt:lpstr>烹饪方法的差异</vt:lpstr>
      <vt:lpstr>烹饪方法的差异</vt:lpstr>
      <vt:lpstr>总结</vt:lpstr>
      <vt:lpstr>谢谢观赏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非遗文化</dc:title>
  <dc:creator>第一PPT</dc:creator>
  <cp:keywords>www.1ppt.com</cp:keywords>
  <dc:description>www.1ppt.com</dc:description>
  <cp:lastModifiedBy>JP Liu</cp:lastModifiedBy>
  <cp:revision>120</cp:revision>
  <dcterms:created xsi:type="dcterms:W3CDTF">2012-09-24T08:45:00Z</dcterms:created>
  <dcterms:modified xsi:type="dcterms:W3CDTF">2025-04-28T03:57:53Z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4A6DCF72D67A452589D388D0C8555B81_12</vt:lpwstr>
  </property>
  <property fmtid="{D5CDD505-2E9C-101B-9397-08002B2CF9AE}" pid="3" name="KSOProductBuildVer">
    <vt:lpwstr>2052-12.1.0.18912</vt:lpwstr>
  </property>
</Properties>
</file>