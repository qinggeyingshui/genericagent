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知识点数量</c:v>
                </c:pt>
              </c:strCache>
            </c:strRef>
          </c:tx>
          <c:dPt>
            <c:idx val="0"/>
            <c:spPr>
              <a:solidFill>
                <a:srgbClr val="1D2974"/>
              </a:solidFill>
            </c:spPr>
          </c:dPt>
          <c:dPt>
            <c:idx val="1"/>
            <c:spPr>
              <a:solidFill>
                <a:srgbClr val="8A97E2"/>
              </a:solidFill>
            </c:spPr>
          </c:dPt>
          <c:dPt>
            <c:idx val="2"/>
            <c:spPr>
              <a:solidFill>
                <a:srgbClr val="AA71E2"/>
              </a:solidFill>
            </c:spPr>
          </c:dPt>
          <c:dPt>
            <c:idx val="3"/>
            <c:spPr>
              <a:solidFill>
                <a:srgbClr val="FFE483"/>
              </a:solidFill>
            </c:spPr>
          </c:dPt>
          <c:dPt>
            <c:idx val="4"/>
            <c:spPr>
              <a:solidFill>
                <a:srgbClr val="26379A"/>
              </a:solidFill>
            </c:spPr>
          </c:dPt>
          <c:dPt>
            <c:idx val="5"/>
            <c:spPr>
              <a:solidFill>
                <a:srgbClr val="1D2974"/>
              </a:solidFill>
            </c:spPr>
          </c:dPt>
          <c:cat>
            <c:strRef>
              <c:f>Sheet1!$A$2:$A$7</c:f>
              <c:strCache>
                <c:ptCount val="6"/>
                <c:pt idx="0">
                  <c:v>导入与回顾（10分钟）</c:v>
                </c:pt>
                <c:pt idx="1">
                  <c:v>注意力机制基础（20分钟）</c:v>
                </c:pt>
                <c:pt idx="2">
                  <c:v>图注意力网络 GAT（25分钟）</c:v>
                </c:pt>
                <c:pt idx="3">
                  <c:v>Graphormer：图上的Transformer（20分钟）</c:v>
                </c:pt>
                <c:pt idx="4">
                  <c:v>应用案例与实验（15分钟）</c:v>
                </c:pt>
                <c:pt idx="5">
                  <c:v>总结与展望（10分钟）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5</c:v>
                </c:pt>
                <c:pt idx="2">
                  <c:v>7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3657600" cy="6858000"/>
          </a:xfrm>
          <a:prstGeom prst="round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0440" y="0"/>
            <a:ext cx="137160" cy="685800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0" y="1645920"/>
            <a:ext cx="70683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0000"/>
                </a:solidFill>
                <a:latin typeface="黑体"/>
              </a:defRPr>
            </a:pPr>
            <a:r>
              <a:t>图注意力网络（GAT）与Transformer注意力机制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3200400"/>
            <a:ext cx="2743200" cy="54864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3474720"/>
            <a:ext cx="7068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6379A"/>
                </a:solidFill>
                <a:latin typeface="等线"/>
              </a:defRPr>
            </a:pPr>
            <a:r>
              <a:t>图神经网络与大语言模型 | L03 | 2学时（100分钟）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教学大纲</a:t>
            </a:r>
          </a:p>
        </p:txBody>
      </p:sp>
      <p:sp>
        <p:nvSpPr>
          <p:cNvPr id="4" name="Oval 3"/>
          <p:cNvSpPr/>
          <p:nvPr/>
        </p:nvSpPr>
        <p:spPr>
          <a:xfrm>
            <a:off x="3931920" y="12070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7640" y="1207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1887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重点与难点</a:t>
            </a:r>
          </a:p>
        </p:txBody>
      </p:sp>
      <p:sp>
        <p:nvSpPr>
          <p:cNvPr id="7" name="Oval 6"/>
          <p:cNvSpPr/>
          <p:nvPr/>
        </p:nvSpPr>
        <p:spPr>
          <a:xfrm>
            <a:off x="3931920" y="18928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40" y="1892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8745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导入与回顾（10分钟）</a:t>
            </a:r>
          </a:p>
        </p:txBody>
      </p:sp>
      <p:sp>
        <p:nvSpPr>
          <p:cNvPr id="10" name="Oval 9"/>
          <p:cNvSpPr/>
          <p:nvPr/>
        </p:nvSpPr>
        <p:spPr>
          <a:xfrm>
            <a:off x="3931920" y="25786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2578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603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注意力机制基础（20分钟）</a:t>
            </a:r>
          </a:p>
        </p:txBody>
      </p:sp>
      <p:sp>
        <p:nvSpPr>
          <p:cNvPr id="13" name="Oval 12"/>
          <p:cNvSpPr/>
          <p:nvPr/>
        </p:nvSpPr>
        <p:spPr>
          <a:xfrm>
            <a:off x="3931920" y="32644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40" y="32644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461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图注意力网络 GAT（25分钟）</a:t>
            </a:r>
          </a:p>
        </p:txBody>
      </p:sp>
      <p:sp>
        <p:nvSpPr>
          <p:cNvPr id="16" name="Oval 15"/>
          <p:cNvSpPr/>
          <p:nvPr/>
        </p:nvSpPr>
        <p:spPr>
          <a:xfrm>
            <a:off x="3931920" y="39502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40" y="3950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9319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Graphormer：图上的Transformer（20分钟）</a:t>
            </a:r>
          </a:p>
        </p:txBody>
      </p:sp>
      <p:sp>
        <p:nvSpPr>
          <p:cNvPr id="19" name="Oval 18"/>
          <p:cNvSpPr/>
          <p:nvPr/>
        </p:nvSpPr>
        <p:spPr>
          <a:xfrm>
            <a:off x="3931920" y="46360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40" y="4636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6177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应用案例与实验（15分钟）</a:t>
            </a:r>
          </a:p>
        </p:txBody>
      </p:sp>
      <p:sp>
        <p:nvSpPr>
          <p:cNvPr id="22" name="Oval 21"/>
          <p:cNvSpPr/>
          <p:nvPr/>
        </p:nvSpPr>
        <p:spPr>
          <a:xfrm>
            <a:off x="3931920" y="53218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40" y="5321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3035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总结与展望（10分钟）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📋 教学流程总览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0058400" cy="54864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88008" y="3493008"/>
            <a:ext cx="329184" cy="329184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080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🚀 环节1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64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导入与回顾（10分钟）（4 个要点）</a:t>
            </a:r>
          </a:p>
        </p:txBody>
      </p:sp>
      <p:sp>
        <p:nvSpPr>
          <p:cNvPr id="8" name="Oval 7"/>
          <p:cNvSpPr/>
          <p:nvPr/>
        </p:nvSpPr>
        <p:spPr>
          <a:xfrm>
            <a:off x="3264408" y="3493008"/>
            <a:ext cx="329184" cy="329184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7E2"/>
                </a:solidFill>
                <a:latin typeface="黑体"/>
              </a:defRPr>
            </a:pPr>
            <a:r>
              <a:t>📖 环节2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注意力机制基础（20分钟）（5 个要点）</a:t>
            </a:r>
          </a:p>
        </p:txBody>
      </p:sp>
      <p:sp>
        <p:nvSpPr>
          <p:cNvPr id="11" name="Oval 10"/>
          <p:cNvSpPr/>
          <p:nvPr/>
        </p:nvSpPr>
        <p:spPr>
          <a:xfrm>
            <a:off x="4940808" y="3493008"/>
            <a:ext cx="329184" cy="329184"/>
          </a:xfrm>
          <a:prstGeom prst="ellipse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3880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A71E2"/>
                </a:solidFill>
                <a:latin typeface="黑体"/>
              </a:defRPr>
            </a:pPr>
            <a:r>
              <a:t>✏️ 环节3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244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图注意力网络 GAT（25分钟）（7 个要点）</a:t>
            </a:r>
          </a:p>
        </p:txBody>
      </p:sp>
      <p:sp>
        <p:nvSpPr>
          <p:cNvPr id="14" name="Oval 13"/>
          <p:cNvSpPr/>
          <p:nvPr/>
        </p:nvSpPr>
        <p:spPr>
          <a:xfrm>
            <a:off x="6617208" y="3493008"/>
            <a:ext cx="329184" cy="329184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50280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79A"/>
                </a:solidFill>
                <a:latin typeface="黑体"/>
              </a:defRPr>
            </a:pPr>
            <a:r>
              <a:t>💬 环节4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8840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Graphormer：图上的Transformer（20分钟）（3 个要点）</a:t>
            </a:r>
          </a:p>
        </p:txBody>
      </p:sp>
      <p:sp>
        <p:nvSpPr>
          <p:cNvPr id="17" name="Oval 16"/>
          <p:cNvSpPr/>
          <p:nvPr/>
        </p:nvSpPr>
        <p:spPr>
          <a:xfrm>
            <a:off x="8293608" y="3493008"/>
            <a:ext cx="329184" cy="329184"/>
          </a:xfrm>
          <a:prstGeom prst="ellipse">
            <a:avLst/>
          </a:prstGeom>
          <a:solidFill>
            <a:srgbClr val="84C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80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4C4D7"/>
                </a:solidFill>
                <a:latin typeface="黑体"/>
              </a:defRPr>
            </a:pPr>
            <a:r>
              <a:t>📋 环节5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应用案例与实验（15分钟）（1 个要点）</a:t>
            </a:r>
          </a:p>
        </p:txBody>
      </p:sp>
      <p:sp>
        <p:nvSpPr>
          <p:cNvPr id="20" name="Oval 19"/>
          <p:cNvSpPr/>
          <p:nvPr/>
        </p:nvSpPr>
        <p:spPr>
          <a:xfrm>
            <a:off x="9970008" y="3493008"/>
            <a:ext cx="329184" cy="329184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3080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🔬 环节6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1640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总结与展望（10分钟）（1 个要点）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1274552" y="5943600"/>
            <a:ext cx="1097280" cy="1097280"/>
          </a:xfrm>
          <a:prstGeom prst="rtTriangl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2974"/>
                </a:solidFill>
                <a:latin typeface="黑体"/>
              </a:defRPr>
            </a:pPr>
            <a:r>
              <a:t>教学目标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200400" cy="54864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65960" y="1645920"/>
            <a:ext cx="731520" cy="731520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理解Scaled Dot-Product Attention的数学原理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371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371600"/>
            <a:ext cx="3200400" cy="54864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40680" y="1645920"/>
            <a:ext cx="731520" cy="73152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掌握GAT注意力系数计算与多头聚合机制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371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0" y="1371600"/>
            <a:ext cx="3200400" cy="54864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15400" y="1645920"/>
            <a:ext cx="731520" cy="731520"/>
          </a:xfrm>
          <a:prstGeom prst="ellipse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能够推导Self-Attention公式并与GCN传播公式对比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57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657600"/>
            <a:ext cx="3200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965960" y="3931920"/>
            <a:ext cx="731520" cy="7315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3931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理解Graphormer如何将Transformer迁移到图结构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657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6240" y="3657600"/>
            <a:ext cx="320040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40680" y="3931920"/>
            <a:ext cx="731520" cy="73152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40680" y="3931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关联L02：将GAT定位为MPNN框架中的可学习聚合函数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5F7FA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2974"/>
                </a:solidFill>
                <a:latin typeface="黑体"/>
              </a:defRPr>
            </a:pPr>
            <a:r>
              <a:t>📊 课程数据概览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D2974"/>
                </a:solidFill>
                <a:latin typeface="黑体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5940" y="3383280"/>
            <a:ext cx="731520" cy="36576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教学目标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A97E2"/>
                </a:solidFill>
                <a:latin typeface="黑体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540" y="3383280"/>
            <a:ext cx="731520" cy="36576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教学环节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E483"/>
                </a:solidFill>
                <a:latin typeface="黑体"/>
              </a:defRPr>
            </a:pPr>
            <a:r>
              <a:t>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35140" y="3383280"/>
            <a:ext cx="731520" cy="36576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知识要点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B0"/>
                </a:solidFill>
                <a:latin typeface="黑体"/>
              </a:defRPr>
            </a:pPr>
            <a:r>
              <a:t>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49740" y="3383280"/>
            <a:ext cx="73152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教学重点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870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870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教学重点与难点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25796" cy="640080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黑体"/>
              </a:defRPr>
            </a:pPr>
            <a:r>
              <a:t>🔑 重点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Q/K/V机制；GAT注意力系数softmax归一化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1636" y="1371600"/>
            <a:ext cx="5225796" cy="640080"/>
          </a:xfrm>
          <a:prstGeom prst="round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4516" y="146304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黑体"/>
              </a:defRPr>
            </a:pPr>
            <a:r>
              <a:t>⚠️ 难点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4516" y="219456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多头注意力语义解释；Graphormer如何编码图结构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导入与回顾（10分钟）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1 环节 · 共 4 个要点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导入与回顾（10分钟）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💡 人类阅读时会"注意"关键词，不均等处理每个词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🌟 推荐系统中，用户历史行为权重不应相同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❓ 分子图中，不同化学键对药效的贡献差异显著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🎬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注意力机制基础（20分钟）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2 环节 · 共 5 个要点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注意力机制基础（20分钟）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▸ 除以 sqrt(d_k)：防止点积值过大导致softmax梯度消失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softmax：将相似度归一化为概率分布（注意力权重和为1）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● h个头并行，每头关注不同子空间的语义关系（句法/语义/指代等）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★ 拼接后线性投影到目标维度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60520"/>
            <a:ext cx="54864" cy="612648"/>
          </a:xfrm>
          <a:prstGeom prst="rect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206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►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图注意力网络 GAT（25分钟）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3 环节 · 共 7 个要点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图注意力网络 GAT（25分钟）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▸ W ∈ R^(d'×d)：共享线性变换，将节点特征投影到新空间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a ∈ R^(2d')：可学习注意力向量（参数量极小）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● ||：向量拼接（concatenation）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★ LeakyReLU：负值区域斜率0.2，防止死神经元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60520"/>
            <a:ext cx="54864" cy="612648"/>
          </a:xfrm>
          <a:prstGeom prst="rect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206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► α_ij 是节点对(i,j)特征的函数，随输入动态变化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463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846320"/>
            <a:ext cx="54864" cy="612648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892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▸ 无需事先知道全图结构（归纳学习友好）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532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532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577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Graphormer：图上的Transformer（20分钟）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4 环节 · 共 3 个要点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Graphormer：图上的Transformer（20分钟）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▸ OGB-LSC（分子属性预测）：Graphormer获2021年KDD Cup冠军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证明：图结构信息可通过空间/位置编码完全注入Transformer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●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应用案例与实验（15分钟）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5 环节 · 共 1 个要点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应用案例与实验（15分钟）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417320"/>
            <a:ext cx="54864" cy="612648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▸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总结与展望（10分钟）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6 环节 · 共 1 个要点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总结与展望（10分钟）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417320"/>
            <a:ext cx="54864" cy="612648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▸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📊 教学内容分布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05840" y="1508760"/>
          <a:ext cx="10177272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114800" cy="41148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029200"/>
            <a:ext cx="2743200" cy="2743200"/>
          </a:xfrm>
          <a:prstGeom prst="ellipse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谢谢！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4C4D7"/>
                </a:solidFill>
                <a:latin typeface="等线"/>
              </a:defRPr>
            </a:pPr>
            <a:r>
              <a:t>图神经网络与大语言模型 - 图注意力网络（GAT）与Transformer注意力机制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