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月度营收趋势(万元)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2025</c:v>
                </c:pt>
              </c:strCache>
            </c:strRef>
          </c:tx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65</c:v>
                </c:pt>
                <c:pt idx="1">
                  <c:v>72</c:v>
                </c:pt>
                <c:pt idx="2">
                  <c:v>78</c:v>
                </c:pt>
                <c:pt idx="3">
                  <c:v>82</c:v>
                </c:pt>
                <c:pt idx="4">
                  <c:v>88</c:v>
                </c:pt>
                <c:pt idx="5">
                  <c:v>95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</c:v>
                </c:pt>
              </c:strCache>
            </c:strRef>
          </c:tx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80</c:v>
                </c:pt>
                <c:pt idx="1">
                  <c:v>92</c:v>
                </c:pt>
                <c:pt idx="2">
                  <c:v>105</c:v>
                </c:pt>
                <c:pt idx="3">
                  <c:v>118</c:v>
                </c:pt>
                <c:pt idx="4">
                  <c:v>132</c:v>
                </c:pt>
                <c:pt idx="5">
                  <c:v>148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t>产品营收占比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占比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产品A</c:v>
                </c:pt>
                <c:pt idx="1">
                  <c:v>产品B</c:v>
                </c:pt>
                <c:pt idx="2">
                  <c:v>产品C</c:v>
                </c:pt>
                <c:pt idx="3">
                  <c:v>其他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</c:v>
                </c:pt>
                <c:pt idx="1">
                  <c:v>28</c:v>
                </c:pt>
                <c:pt idx="2">
                  <c:v>18</c:v>
                </c:pt>
                <c:pt idx="3">
                  <c:v>12</c:v>
                </c:pt>
              </c:numCache>
            </c:numRef>
          </c:val>
        </c:ser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各区域用户分布(万)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新增用户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华东</c:v>
                </c:pt>
                <c:pt idx="1">
                  <c:v>华南</c:v>
                </c:pt>
                <c:pt idx="2">
                  <c:v>华北</c:v>
                </c:pt>
                <c:pt idx="3">
                  <c:v>西南</c:v>
                </c:pt>
                <c:pt idx="4">
                  <c:v>华中</c:v>
                </c:pt>
                <c:pt idx="5">
                  <c:v>西北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32</c:v>
                </c:pt>
                <c:pt idx="1">
                  <c:v>28</c:v>
                </c:pt>
                <c:pt idx="2">
                  <c:v>24</c:v>
                </c:pt>
                <c:pt idx="3">
                  <c:v>18</c:v>
                </c:pt>
                <c:pt idx="4">
                  <c:v>15</c:v>
                </c:pt>
                <c:pt idx="5">
                  <c:v>11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活跃用户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华东</c:v>
                </c:pt>
                <c:pt idx="1">
                  <c:v>华南</c:v>
                </c:pt>
                <c:pt idx="2">
                  <c:v>华北</c:v>
                </c:pt>
                <c:pt idx="3">
                  <c:v>西南</c:v>
                </c:pt>
                <c:pt idx="4">
                  <c:v>华中</c:v>
                </c:pt>
                <c:pt idx="5">
                  <c:v>西北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85</c:v>
                </c:pt>
                <c:pt idx="1">
                  <c:v>72</c:v>
                </c:pt>
                <c:pt idx="2">
                  <c:v>68</c:v>
                </c:pt>
                <c:pt idx="3">
                  <c:v>45</c:v>
                </c:pt>
                <c:pt idx="4">
                  <c:v>42</c:v>
                </c:pt>
                <c:pt idx="5">
                  <c:v>28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用户年龄分布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用户占比%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18-24岁</c:v>
                </c:pt>
                <c:pt idx="1">
                  <c:v>25-34岁</c:v>
                </c:pt>
                <c:pt idx="2">
                  <c:v>35-44岁</c:v>
                </c:pt>
                <c:pt idx="3">
                  <c:v>45岁以上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28</c:v>
                </c:pt>
                <c:pt idx="1">
                  <c:v>42</c:v>
                </c:pt>
                <c:pt idx="2">
                  <c:v>22</c:v>
                </c:pt>
                <c:pt idx="3">
                  <c:v>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1E30"/>
            </a:gs>
            <a:gs pos="100000">
              <a:srgbClr val="283250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4572000"/>
            <a:ext cx="2743200" cy="2743200"/>
          </a:xfrm>
          <a:prstGeom prst="ellipse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2026 年度数据报告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DCE6FF"/>
                </a:solidFill>
              </a:defRPr>
            </a:pPr>
            <a:r>
              <a:t>智能分析 · 数据驱动 · 洞察未来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5029200"/>
            <a:ext cx="2103120" cy="548640"/>
          </a:xfrm>
          <a:prstGeom prst="roundRect">
            <a:avLst>
              <a:gd name="adj" fmla="val 10000"/>
            </a:avLst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20640" y="50749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开始探索 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E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核心业务指标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6A0B4"/>
                </a:solidFill>
              </a:defRPr>
            </a:pPr>
            <a:r>
              <a:t>2026 Q1 季度表现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2651760" cy="2011680"/>
          </a:xfrm>
          <a:prstGeom prst="roundRect">
            <a:avLst>
              <a:gd name="adj" fmla="val 10000"/>
            </a:avLst>
          </a:prstGeom>
          <a:solidFill>
            <a:srgbClr val="23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6A0B4"/>
                </a:solidFill>
              </a:defRPr>
            </a:pPr>
            <a:r>
              <a:t>营收增长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00E676"/>
                </a:solidFill>
              </a:defRPr>
            </a:pPr>
            <a:r>
              <a:t>+42%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108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CE6FF"/>
                </a:solidFill>
              </a:defRPr>
            </a:pPr>
            <a:r>
              <a:t>同比增长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1645920"/>
            <a:ext cx="2651760" cy="2011680"/>
          </a:xfrm>
          <a:prstGeom prst="roundRect">
            <a:avLst>
              <a:gd name="adj" fmla="val 10000"/>
            </a:avLst>
          </a:prstGeom>
          <a:solidFill>
            <a:srgbClr val="23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1828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6A0B4"/>
                </a:solidFill>
              </a:defRPr>
            </a:pPr>
            <a:r>
              <a:t>用户数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2860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2962FF"/>
                </a:solidFill>
              </a:defRPr>
            </a:pPr>
            <a:r>
              <a:t>128万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3108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CE6FF"/>
                </a:solidFill>
              </a:defRPr>
            </a:pPr>
            <a:r>
              <a:t>月活跃用户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645920"/>
            <a:ext cx="2651760" cy="2011680"/>
          </a:xfrm>
          <a:prstGeom prst="roundRect">
            <a:avLst>
              <a:gd name="adj" fmla="val 10000"/>
            </a:avLst>
          </a:prstGeom>
          <a:solidFill>
            <a:srgbClr val="23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828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6A0B4"/>
                </a:solidFill>
              </a:defRPr>
            </a:pPr>
            <a:r>
              <a:t>转化率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2860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7C4DFF"/>
                </a:solidFill>
              </a:defRPr>
            </a:pPr>
            <a:r>
              <a:t>8.6%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3108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CE6FF"/>
                </a:solidFill>
              </a:defRPr>
            </a:pPr>
            <a:r>
              <a:t>较上季+2.1%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20" y="1645920"/>
            <a:ext cx="2651760" cy="2011680"/>
          </a:xfrm>
          <a:prstGeom prst="roundRect">
            <a:avLst>
              <a:gd name="adj" fmla="val 10000"/>
            </a:avLst>
          </a:prstGeom>
          <a:solidFill>
            <a:srgbClr val="23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0" y="1828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6A0B4"/>
                </a:solidFill>
              </a:defRPr>
            </a:pPr>
            <a:r>
              <a:t>满意度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22860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B400"/>
                </a:solidFill>
              </a:defRPr>
            </a:pPr>
            <a:r>
              <a:t>96%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3108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CE6FF"/>
                </a:solidFill>
              </a:defRPr>
            </a:pPr>
            <a:r>
              <a:t>客户好评率</a:t>
            </a:r>
          </a:p>
        </p:txBody>
      </p:sp>
      <p:graphicFrame>
        <p:nvGraphicFramePr>
          <p:cNvPr id="20" name="Chart 19"/>
          <p:cNvGraphicFramePr>
            <a:graphicFrameLocks noGrp="1"/>
          </p:cNvGraphicFramePr>
          <p:nvPr/>
        </p:nvGraphicFramePr>
        <p:xfrm>
          <a:off x="457200" y="3840480"/>
          <a:ext cx="548640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21" name="Chart 20"/>
          <p:cNvGraphicFramePr>
            <a:graphicFrameLocks noGrp="1"/>
          </p:cNvGraphicFramePr>
          <p:nvPr/>
        </p:nvGraphicFramePr>
        <p:xfrm>
          <a:off x="6400800" y="3840480"/>
          <a:ext cx="5303520" cy="2743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92337"/>
            </a:gs>
            <a:gs pos="100000">
              <a:srgbClr val="2D3755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用户增长分析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188720"/>
          <a:ext cx="68580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7772400" y="1188720"/>
            <a:ext cx="3931920" cy="1645920"/>
          </a:xfrm>
          <a:prstGeom prst="roundRect">
            <a:avLst>
              <a:gd name="adj" fmla="val 10000"/>
            </a:avLst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79" y="1371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CE6FF"/>
                </a:solidFill>
              </a:defRPr>
            </a:pPr>
            <a:r>
              <a:t>日均新增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79" y="173736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12,580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79" y="2377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E676"/>
                </a:solidFill>
              </a:defRPr>
            </a:pPr>
            <a:r>
              <a:t>↑ 23% vs 上月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3017520"/>
            <a:ext cx="3931920" cy="1645920"/>
          </a:xfrm>
          <a:prstGeom prst="roundRect">
            <a:avLst>
              <a:gd name="adj" fmla="val 10000"/>
            </a:avLst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79" y="3200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CE6FF"/>
                </a:solidFill>
              </a:defRPr>
            </a:pPr>
            <a:r>
              <a:t>用户留存率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356616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78.5%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42062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CE6FF"/>
                </a:solidFill>
              </a:defRPr>
            </a:pPr>
            <a:r>
              <a:t>7日留存 行业TOP10%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457200" y="5029200"/>
          <a:ext cx="11247120" cy="16459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E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产品服务矩阵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6A0B4"/>
                </a:solidFill>
              </a:defRPr>
            </a:pPr>
            <a:r>
              <a:t>四大核心产品线，全方位覆盖用户需求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5577840" cy="2286000"/>
          </a:xfrm>
          <a:prstGeom prst="roundRect">
            <a:avLst>
              <a:gd name="adj" fmla="val 10000"/>
            </a:avLst>
          </a:prstGeom>
          <a:solidFill>
            <a:srgbClr val="23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" y="1737360"/>
            <a:ext cx="731520" cy="731520"/>
          </a:xfrm>
          <a:prstGeom prst="ellipse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</a:defRPr>
            </a:pPr>
            <a:r>
              <a:t>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18288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智能分析平台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237744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CE6FF"/>
                </a:solidFill>
              </a:defRPr>
            </a:pPr>
            <a:r>
              <a:t>AI驱动的数据分析</a:t>
            </a:r>
            <a:br/>
            <a:r>
              <a:t>实时洞察业务趋势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463040"/>
            <a:ext cx="5577840" cy="2286000"/>
          </a:xfrm>
          <a:prstGeom prst="roundRect">
            <a:avLst>
              <a:gd name="adj" fmla="val 10000"/>
            </a:avLst>
          </a:prstGeom>
          <a:solidFill>
            <a:srgbClr val="23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83680" y="1737360"/>
            <a:ext cx="731520" cy="731520"/>
          </a:xfrm>
          <a:prstGeom prst="ellipse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20840" y="18288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</a:defRPr>
            </a:pPr>
            <a:r>
              <a:t>⚙️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18288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自动化引擎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237744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CE6FF"/>
                </a:solidFill>
              </a:defRPr>
            </a:pPr>
            <a:r>
              <a:t>流程自动化</a:t>
            </a:r>
            <a:br/>
            <a:r>
              <a:t>效率提升300%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023360"/>
            <a:ext cx="5577840" cy="2286000"/>
          </a:xfrm>
          <a:prstGeom prst="roundRect">
            <a:avLst>
              <a:gd name="adj" fmla="val 10000"/>
            </a:avLst>
          </a:prstGeom>
          <a:solidFill>
            <a:srgbClr val="23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31520" y="4297680"/>
            <a:ext cx="731520" cy="731520"/>
          </a:xfrm>
          <a:prstGeom prst="ellipse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3891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</a:defRPr>
            </a:pPr>
            <a:r>
              <a:t>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43891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协作工具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493776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CE6FF"/>
                </a:solidFill>
              </a:defRPr>
            </a:pPr>
            <a:r>
              <a:t>团队实时协作</a:t>
            </a:r>
            <a:br/>
            <a:r>
              <a:t>打破信息孤岛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4023360"/>
            <a:ext cx="5577840" cy="2286000"/>
          </a:xfrm>
          <a:prstGeom prst="roundRect">
            <a:avLst>
              <a:gd name="adj" fmla="val 10000"/>
            </a:avLst>
          </a:prstGeom>
          <a:solidFill>
            <a:srgbClr val="23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83680" y="4297680"/>
            <a:ext cx="731520" cy="731520"/>
          </a:xfrm>
          <a:prstGeom prst="ellipse">
            <a:avLst/>
          </a:prstGeom>
          <a:solidFill>
            <a:srgbClr val="FF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43891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</a:defRPr>
            </a:pPr>
            <a:r>
              <a:t>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43891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安全中心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493776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CE6FF"/>
                </a:solidFill>
              </a:defRPr>
            </a:pPr>
            <a:r>
              <a:t>企业级安全</a:t>
            </a:r>
            <a:br/>
            <a:r>
              <a:t>数据全程加密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E2841"/>
            </a:gs>
            <a:gs pos="100000">
              <a:srgbClr val="323C5A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技术架构全景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2011680" cy="1097280"/>
          </a:xfrm>
          <a:prstGeom prst="roundRect">
            <a:avLst>
              <a:gd name="adj" fmla="val 10000"/>
            </a:avLst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应用层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1097280"/>
            <a:ext cx="2103120" cy="1097280"/>
          </a:xfrm>
          <a:prstGeom prst="roundRect">
            <a:avLst>
              <a:gd name="adj" fmla="val 10000"/>
            </a:avLst>
          </a:prstGeom>
          <a:solidFill>
            <a:srgbClr val="2D3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34640" y="14630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DCE6FF"/>
                </a:solidFill>
              </a:defRPr>
            </a:pPr>
            <a:r>
              <a:t>Web端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1097280"/>
            <a:ext cx="2103120" cy="1097280"/>
          </a:xfrm>
          <a:prstGeom prst="roundRect">
            <a:avLst>
              <a:gd name="adj" fmla="val 10000"/>
            </a:avLst>
          </a:prstGeom>
          <a:solidFill>
            <a:srgbClr val="2D3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0" y="14630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DCE6FF"/>
                </a:solidFill>
              </a:defRPr>
            </a:pPr>
            <a:r>
              <a:t>移动端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1097280"/>
            <a:ext cx="2103120" cy="1097280"/>
          </a:xfrm>
          <a:prstGeom prst="roundRect">
            <a:avLst>
              <a:gd name="adj" fmla="val 10000"/>
            </a:avLst>
          </a:prstGeom>
          <a:solidFill>
            <a:srgbClr val="2D3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0" y="14630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DCE6FF"/>
                </a:solidFill>
              </a:defRPr>
            </a:pPr>
            <a:r>
              <a:t>API接口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0" y="1097280"/>
            <a:ext cx="2103120" cy="1097280"/>
          </a:xfrm>
          <a:prstGeom prst="roundRect">
            <a:avLst>
              <a:gd name="adj" fmla="val 10000"/>
            </a:avLst>
          </a:prstGeom>
          <a:solidFill>
            <a:srgbClr val="2D3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92640" y="14630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DCE6FF"/>
                </a:solidFill>
              </a:defRPr>
            </a:pPr>
            <a:r>
              <a:t>小程序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468880"/>
            <a:ext cx="2011680" cy="1097280"/>
          </a:xfrm>
          <a:prstGeom prst="roundRect">
            <a:avLst>
              <a:gd name="adj" fmla="val 10000"/>
            </a:avLst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8346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服务层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0" y="2468880"/>
            <a:ext cx="2103120" cy="1097280"/>
          </a:xfrm>
          <a:prstGeom prst="roundRect">
            <a:avLst>
              <a:gd name="adj" fmla="val 10000"/>
            </a:avLst>
          </a:prstGeom>
          <a:solidFill>
            <a:srgbClr val="2D3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34640" y="28346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DCE6FF"/>
                </a:solidFill>
              </a:defRPr>
            </a:pPr>
            <a:r>
              <a:t>用户服务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2468880"/>
            <a:ext cx="2103120" cy="1097280"/>
          </a:xfrm>
          <a:prstGeom prst="roundRect">
            <a:avLst>
              <a:gd name="adj" fmla="val 10000"/>
            </a:avLst>
          </a:prstGeom>
          <a:solidFill>
            <a:srgbClr val="2D3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0640" y="28346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DCE6FF"/>
                </a:solidFill>
              </a:defRPr>
            </a:pPr>
            <a:r>
              <a:t>数据服务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0" y="2468880"/>
            <a:ext cx="2103120" cy="1097280"/>
          </a:xfrm>
          <a:prstGeom prst="roundRect">
            <a:avLst>
              <a:gd name="adj" fmla="val 10000"/>
            </a:avLst>
          </a:prstGeom>
          <a:solidFill>
            <a:srgbClr val="2D3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06640" y="28346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DCE6FF"/>
                </a:solidFill>
              </a:defRPr>
            </a:pPr>
            <a:r>
              <a:t>AI服务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1200" y="2468880"/>
            <a:ext cx="2103120" cy="1097280"/>
          </a:xfrm>
          <a:prstGeom prst="roundRect">
            <a:avLst>
              <a:gd name="adj" fmla="val 10000"/>
            </a:avLst>
          </a:prstGeom>
          <a:solidFill>
            <a:srgbClr val="2D3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0" y="28346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DCE6FF"/>
                </a:solidFill>
              </a:defRPr>
            </a:pPr>
            <a:r>
              <a:t>消息服务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840480"/>
            <a:ext cx="2011680" cy="1097280"/>
          </a:xfrm>
          <a:prstGeom prst="roundRect">
            <a:avLst>
              <a:gd name="adj" fmla="val 10000"/>
            </a:avLst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2062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中间件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43200" y="3840480"/>
            <a:ext cx="2103120" cy="1097280"/>
          </a:xfrm>
          <a:prstGeom prst="roundRect">
            <a:avLst>
              <a:gd name="adj" fmla="val 10000"/>
            </a:avLst>
          </a:prstGeom>
          <a:solidFill>
            <a:srgbClr val="2D3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34640" y="42062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DCE6FF"/>
                </a:solidFill>
              </a:defRPr>
            </a:pPr>
            <a:r>
              <a:t>Redis缓存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0" y="3840480"/>
            <a:ext cx="2103120" cy="1097280"/>
          </a:xfrm>
          <a:prstGeom prst="roundRect">
            <a:avLst>
              <a:gd name="adj" fmla="val 10000"/>
            </a:avLst>
          </a:prstGeom>
          <a:solidFill>
            <a:srgbClr val="2D3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20640" y="42062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DCE6FF"/>
                </a:solidFill>
              </a:defRPr>
            </a:pPr>
            <a:r>
              <a:t>消息队列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0" y="3840480"/>
            <a:ext cx="2103120" cy="1097280"/>
          </a:xfrm>
          <a:prstGeom prst="roundRect">
            <a:avLst>
              <a:gd name="adj" fmla="val 10000"/>
            </a:avLst>
          </a:prstGeom>
          <a:solidFill>
            <a:srgbClr val="2D3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06640" y="42062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DCE6FF"/>
                </a:solidFill>
              </a:defRPr>
            </a:pPr>
            <a:r>
              <a:t>服务网关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601200" y="3840480"/>
            <a:ext cx="2103120" cy="1097280"/>
          </a:xfrm>
          <a:prstGeom prst="roundRect">
            <a:avLst>
              <a:gd name="adj" fmla="val 10000"/>
            </a:avLst>
          </a:prstGeom>
          <a:solidFill>
            <a:srgbClr val="2D3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92640" y="42062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DCE6FF"/>
                </a:solidFill>
              </a:defRPr>
            </a:pPr>
            <a:r>
              <a:t>配置中心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5212080"/>
            <a:ext cx="2011680" cy="1097280"/>
          </a:xfrm>
          <a:prstGeom prst="roundRect">
            <a:avLst>
              <a:gd name="adj" fmla="val 10000"/>
            </a:avLst>
          </a:prstGeom>
          <a:solidFill>
            <a:srgbClr val="FF9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55778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基础设施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743200" y="5212080"/>
            <a:ext cx="2103120" cy="1097280"/>
          </a:xfrm>
          <a:prstGeom prst="roundRect">
            <a:avLst>
              <a:gd name="adj" fmla="val 10000"/>
            </a:avLst>
          </a:prstGeom>
          <a:solidFill>
            <a:srgbClr val="2D3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834640" y="55778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DCE6FF"/>
                </a:solidFill>
              </a:defRPr>
            </a:pPr>
            <a:r>
              <a:t>K8s集群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0" y="5212080"/>
            <a:ext cx="2103120" cy="1097280"/>
          </a:xfrm>
          <a:prstGeom prst="roundRect">
            <a:avLst>
              <a:gd name="adj" fmla="val 10000"/>
            </a:avLst>
          </a:prstGeom>
          <a:solidFill>
            <a:srgbClr val="2D3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120640" y="55778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DCE6FF"/>
                </a:solidFill>
              </a:defRPr>
            </a:pPr>
            <a:r>
              <a:t>数据库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0" y="5212080"/>
            <a:ext cx="2103120" cy="1097280"/>
          </a:xfrm>
          <a:prstGeom prst="roundRect">
            <a:avLst>
              <a:gd name="adj" fmla="val 10000"/>
            </a:avLst>
          </a:prstGeom>
          <a:solidFill>
            <a:srgbClr val="2D3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406640" y="55778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DCE6FF"/>
                </a:solidFill>
              </a:defRPr>
            </a:pPr>
            <a:r>
              <a:t>对象存储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601200" y="5212080"/>
            <a:ext cx="2103120" cy="1097280"/>
          </a:xfrm>
          <a:prstGeom prst="roundRect">
            <a:avLst>
              <a:gd name="adj" fmla="val 10000"/>
            </a:avLst>
          </a:prstGeom>
          <a:solidFill>
            <a:srgbClr val="2D3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692640" y="55778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DCE6FF"/>
                </a:solidFill>
              </a:defRPr>
            </a:pPr>
            <a:r>
              <a:t>CDN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6675120"/>
            <a:ext cx="11247120" cy="91440"/>
          </a:xfrm>
          <a:prstGeom prst="roundRect">
            <a:avLst>
              <a:gd name="adj" fmla="val 10000"/>
            </a:avLst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41E30"/>
            </a:gs>
            <a:gs pos="100000">
              <a:srgbClr val="283250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0" y="-1828800"/>
            <a:ext cx="4572000" cy="4572000"/>
          </a:xfrm>
          <a:prstGeom prst="ellipse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4572000"/>
            <a:ext cx="3657600" cy="3657600"/>
          </a:xfrm>
          <a:prstGeom prst="ellipse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2026 展望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7315200" cy="1097280"/>
          </a:xfrm>
          <a:prstGeom prst="roundRect">
            <a:avLst>
              <a:gd name="adj" fmla="val 10000"/>
            </a:avLst>
          </a:prstGeom>
          <a:solidFill>
            <a:srgbClr val="23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</a:defRPr>
            </a:pPr>
            <a:r>
              <a:t>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用户突破500万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28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6A0B4"/>
                </a:solidFill>
              </a:defRPr>
            </a:pPr>
            <a:r>
              <a:t>持续优化产品体验，扩大市场份额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468880"/>
            <a:ext cx="7315200" cy="1097280"/>
          </a:xfrm>
          <a:prstGeom prst="roundRect">
            <a:avLst>
              <a:gd name="adj" fmla="val 10000"/>
            </a:avLst>
          </a:prstGeom>
          <a:solidFill>
            <a:srgbClr val="23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7889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</a:defRPr>
            </a:pPr>
            <a:r>
              <a:t>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6517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营收增长100%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1089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6A0B4"/>
                </a:solidFill>
              </a:defRPr>
            </a:pPr>
            <a:r>
              <a:t>深耕核心业务，拓展新兴市场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749039"/>
            <a:ext cx="7315200" cy="1097280"/>
          </a:xfrm>
          <a:prstGeom prst="roundRect">
            <a:avLst>
              <a:gd name="adj" fmla="val 10000"/>
            </a:avLst>
          </a:prstGeom>
          <a:solidFill>
            <a:srgbClr val="23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069079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</a:defRPr>
            </a:pPr>
            <a:r>
              <a:t>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9319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AI能力升级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3891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6A0B4"/>
                </a:solidFill>
              </a:defRPr>
            </a:pPr>
            <a:r>
              <a:t>引入大模型技术，打造智能化产品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029199"/>
            <a:ext cx="7315200" cy="1097280"/>
          </a:xfrm>
          <a:prstGeom prst="roundRect">
            <a:avLst>
              <a:gd name="adj" fmla="val 10000"/>
            </a:avLst>
          </a:prstGeom>
          <a:solidFill>
            <a:srgbClr val="23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5349239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</a:defRPr>
            </a:pPr>
            <a:r>
              <a:t>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5212079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国际化布局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5669279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6A0B4"/>
                </a:solidFill>
              </a:defRPr>
            </a:pPr>
            <a:r>
              <a:t>进军东南亚市场，建立海外团队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228600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感谢观看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12480" y="3200400"/>
            <a:ext cx="3291840" cy="457200"/>
          </a:xfrm>
          <a:prstGeom prst="roundRect">
            <a:avLst>
              <a:gd name="adj" fmla="val 10000"/>
            </a:avLst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0" y="32461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contact@example.com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