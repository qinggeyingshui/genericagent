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知识点数量</c:v>
                </c:pt>
              </c:strCache>
            </c:strRef>
          </c:tx>
          <c:dPt>
            <c:idx val="0"/>
            <c:spPr>
              <a:solidFill>
                <a:srgbClr val="1D2974"/>
              </a:solidFill>
            </c:spPr>
          </c:dPt>
          <c:dPt>
            <c:idx val="1"/>
            <c:spPr>
              <a:solidFill>
                <a:srgbClr val="8A97E2"/>
              </a:solidFill>
            </c:spPr>
          </c:dPt>
          <c:dPt>
            <c:idx val="2"/>
            <c:spPr>
              <a:solidFill>
                <a:srgbClr val="AA71E2"/>
              </a:solidFill>
            </c:spPr>
          </c:dPt>
          <c:dPt>
            <c:idx val="3"/>
            <c:spPr>
              <a:solidFill>
                <a:srgbClr val="FFE483"/>
              </a:solidFill>
            </c:spPr>
          </c:dPt>
          <c:dPt>
            <c:idx val="4"/>
            <c:spPr>
              <a:solidFill>
                <a:srgbClr val="26379A"/>
              </a:solidFill>
            </c:spPr>
          </c:dPt>
          <c:dPt>
            <c:idx val="5"/>
            <c:spPr>
              <a:solidFill>
                <a:srgbClr val="1D2974"/>
              </a:solidFill>
            </c:spPr>
          </c:dPt>
          <c:cat>
            <c:strRef>
              <c:f>Sheet1!$A$2:$A$7</c:f>
              <c:strCache>
                <c:ptCount val="6"/>
                <c:pt idx="0">
                  <c:v>导入与回顾（10分钟）</c:v>
                </c:pt>
                <c:pt idx="1">
                  <c:v>GraphRAG：图结构增强检索（20分钟）</c:v>
                </c:pt>
                <c:pt idx="2">
                  <c:v>MASPOB深入：GNN在提示优化中的作用（20分钟）</c:v>
                </c:pt>
                <c:pt idx="3">
                  <c:v>结构增强文本理解（15分钟）</c:v>
                </c:pt>
                <c:pt idx="4">
                  <c:v>联合应用设计模式与讨论（20分钟）</c:v>
                </c:pt>
                <c:pt idx="5">
                  <c:v>总结与作业（15分钟）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657600" cy="6858000"/>
          </a:xfrm>
          <a:prstGeom prst="round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0440" y="0"/>
            <a:ext cx="137160" cy="68580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7068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黑体"/>
              </a:defRPr>
            </a:pPr>
            <a:r>
              <a:t>GNN与LLM联合应用：GraphRAG、提示优化与结构增强文本理解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3200400"/>
            <a:ext cx="27432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3474720"/>
            <a:ext cx="7068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79A"/>
                </a:solidFill>
                <a:latin typeface="等线"/>
              </a:defRPr>
            </a:pPr>
            <a:r>
              <a:t>图神经网络与大语言模型 | L04 | 2学时（100分钟）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教学大纲</a:t>
            </a:r>
          </a:p>
        </p:txBody>
      </p:sp>
      <p:sp>
        <p:nvSpPr>
          <p:cNvPr id="4" name="Oval 3"/>
          <p:cNvSpPr/>
          <p:nvPr/>
        </p:nvSpPr>
        <p:spPr>
          <a:xfrm>
            <a:off x="3931920" y="1207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重点与难点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92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导入与回顾（10分钟）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578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578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GraphRAG：图结构增强检索（20分钟）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32644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MASPOB深入：GNN在提示优化中的作用（20分钟）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39502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结构增强文本理解（15分钟）</a:t>
            </a:r>
          </a:p>
        </p:txBody>
      </p:sp>
      <p:sp>
        <p:nvSpPr>
          <p:cNvPr id="19" name="Oval 18"/>
          <p:cNvSpPr/>
          <p:nvPr/>
        </p:nvSpPr>
        <p:spPr>
          <a:xfrm>
            <a:off x="3931920" y="4636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636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联合应用设计模式与讨论（20分钟）</a:t>
            </a:r>
          </a:p>
        </p:txBody>
      </p:sp>
      <p:sp>
        <p:nvSpPr>
          <p:cNvPr id="22" name="Oval 21"/>
          <p:cNvSpPr/>
          <p:nvPr/>
        </p:nvSpPr>
        <p:spPr>
          <a:xfrm>
            <a:off x="3931920" y="5321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03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总结与作业（15分钟）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📋 教学流程总览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8800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0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🚀 环节1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导入与回顾（10分钟）（3 个要点）</a:t>
            </a:r>
          </a:p>
        </p:txBody>
      </p:sp>
      <p:sp>
        <p:nvSpPr>
          <p:cNvPr id="8" name="Oval 7"/>
          <p:cNvSpPr/>
          <p:nvPr/>
        </p:nvSpPr>
        <p:spPr>
          <a:xfrm>
            <a:off x="3264408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📖 环节2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GraphRAG：图结构增强检索（20分钟）（9 个要点）</a:t>
            </a:r>
          </a:p>
        </p:txBody>
      </p:sp>
      <p:sp>
        <p:nvSpPr>
          <p:cNvPr id="11" name="Oval 10"/>
          <p:cNvSpPr/>
          <p:nvPr/>
        </p:nvSpPr>
        <p:spPr>
          <a:xfrm>
            <a:off x="4940808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38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✏️ 环节3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24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MASPOB深入：GNN在提示优化中的作用（20分钟）（8 个要点）</a:t>
            </a:r>
          </a:p>
        </p:txBody>
      </p:sp>
      <p:sp>
        <p:nvSpPr>
          <p:cNvPr id="14" name="Oval 13"/>
          <p:cNvSpPr/>
          <p:nvPr/>
        </p:nvSpPr>
        <p:spPr>
          <a:xfrm>
            <a:off x="6617208" y="3493008"/>
            <a:ext cx="329184" cy="329184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02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79A"/>
                </a:solidFill>
                <a:latin typeface="黑体"/>
              </a:defRPr>
            </a:pPr>
            <a:r>
              <a:t>💬 环节4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88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结构增强文本理解（15分钟）（7 个要点）</a:t>
            </a:r>
          </a:p>
        </p:txBody>
      </p:sp>
      <p:sp>
        <p:nvSpPr>
          <p:cNvPr id="17" name="Oval 16"/>
          <p:cNvSpPr/>
          <p:nvPr/>
        </p:nvSpPr>
        <p:spPr>
          <a:xfrm>
            <a:off x="8293608" y="3493008"/>
            <a:ext cx="329184" cy="329184"/>
          </a:xfrm>
          <a:prstGeom prst="ellipse">
            <a:avLst/>
          </a:prstGeom>
          <a:solidFill>
            <a:srgbClr val="84C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4C4D7"/>
                </a:solidFill>
                <a:latin typeface="黑体"/>
              </a:defRPr>
            </a:pPr>
            <a:r>
              <a:t>📋 环节5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联合应用设计模式与讨论（20分钟）（6 个要点）</a:t>
            </a:r>
          </a:p>
        </p:txBody>
      </p:sp>
      <p:sp>
        <p:nvSpPr>
          <p:cNvPr id="20" name="Oval 19"/>
          <p:cNvSpPr/>
          <p:nvPr/>
        </p:nvSpPr>
        <p:spPr>
          <a:xfrm>
            <a:off x="997000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30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🔬 环节6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16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总结与作业（15分钟）（4 个要点）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274552" y="594360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645920"/>
            <a:ext cx="731520" cy="73152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理解GraphRAG（图检索增强生成）的核心思想与架构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2004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0680" y="1645920"/>
            <a:ext cx="731520" cy="73152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掌握GNN在提示优化（MASPOB）中的结构建模作用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371600"/>
            <a:ext cx="3200400" cy="54864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45920"/>
            <a:ext cx="731520" cy="731520"/>
          </a:xfrm>
          <a:prstGeom prst="ellipse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能够比较LLM-only方案与GNN+LLM联合方案的性能差异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3200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5960" y="3931920"/>
            <a:ext cx="731520" cy="7315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了解GNN+LLM在文本分类、行为检测、化学预测等领域的典型应用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2004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40680" y="393192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能够设计一个简单的GNN+LLM联合推理流水线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📊 课程数据概览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59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5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E483"/>
                </a:solidFill>
                <a:latin typeface="黑体"/>
              </a:defRPr>
            </a:pPr>
            <a:r>
              <a:t>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5140" y="3383280"/>
            <a:ext cx="731520" cy="36576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知识要点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黑体"/>
              </a:defRPr>
            </a:pPr>
            <a:r>
              <a:t>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9740" y="3383280"/>
            <a:ext cx="731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教学重点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教学重点与难点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25796" cy="64008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🔑 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GraphRAG的图结构检索机制；GNN如何将拓扑信息注入LLM推理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71600"/>
            <a:ext cx="5225796" cy="640080"/>
          </a:xfrm>
          <a:prstGeom prst="round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4516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⚠️ 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4516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串联 vs 并联融合架构的取舍；GNN+LLM联合训练时梯度传播问题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导入与回顾（10分钟）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1 环节 · 共 3 个要点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导入与回顾（10分钟）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💡 复习L03：GAT注意力系数eij的softmax归一化；Graphormer的空间编码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🌟 提问：LLM在检索增强生成（RAG）中如何使用外部知识？图结构如何改善这一过程？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❓ 动机：传统RAG基于向量相似度检索，忽略文档/实体间关系；GraphRAG用图结构连接相关知识块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GraphRAG：图结构增强检索（20分钟）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2 环节 · 共 9 个要点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GraphRAG：图结构增强检索（20分钟）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向量检索：Top-K相似文本块，忽略跨块关系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知识碎片化问题：关联实体分散在不同文档，单次检索无法覆盖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引入：Microsoft GraphRAG将文档解析为实体-关系图，用图遍历补充检索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Step1 索引阶段：LLM从文档中提取实体和关系 → 构建知识图谱 KG(V,E)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Step2 社区检测：对KG运行Leiden算法，聚合相关实体族群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Step3 查询阶段：用户问题 → 图检索（局部搜索/全局社区摘要）→ LLM生成答案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32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关键优势：多跳推理能力；全局主题摘要能力（传统RAG做不到）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217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6217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263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GraphRAG使用LLM做图构建，用图算法做检索，下一步方向：用GNN替代图算法做端到端可微检索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6903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6903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6949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学术前沿：G-Retriever（He et al. 2024）将GNN嵌入RAG管道实现可微图检索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MASPOB深入：GNN在提示优化中的作用（20分钟）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3 环节 · 共 8 个要点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MASPOB深入：GNN在提示优化中的作用（20分钟）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MAS工作流：Planner→Researcher→Writer→Reviewer，各Agent有独立Prompt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目标：在有限预算内联合优化所有Agent的Prompt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挑战：Agent间的依赖关系（Planner的输出是Researcher的输入）使Prompt不可独立优化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将MAS工作流建模为有向图G(V,E)，节点=Agent，边=数据流依赖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GNN对节点特征聚合：$h_i^{(l+1)} = \text{AGG}(h_i^{(l)}, \{h_j^{(l)}: j \in \mathcal{N}(i)\})$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输出：拓扑感知的Prompt语义表示，用于UCB置信度计算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32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与不含GNN的纯Bandit方法对比：GNN使搜索复杂度从O(K^N)降至O(K*N)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217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6217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263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在MMLU/HotpotQA/ALFWorld等多基准上达到SOTA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结构增强文本理解（15分钟）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4 环节 · 共 7 个要点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结构增强文本理解（15分钟）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Stage1：LLM（如BERT/Llama）提取多层语境特征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Stage2：特征金字塔（FPN）融合不同层次语义（全局主题+局部实体）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Stage3：将融合特征转为图表示，GNN捕获语义单元间逻辑依赖关系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效果：在ACC/F1/AUC上优于单独使用LLM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不文明行为检测实验（Chen et al. 2025）：GNN在结构丰富任务上超越12个SOTA 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推理成本：GNN推理成本显著低于大型LLM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32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规律：任务中存在显式关系结构时，GNN优于纯文本LLM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联合应用设计模式与讨论（20分钟）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5 环节 · 共 6 个要点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联合应用设计模式与讨论（20分钟）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数据规模小、关系结构显著 -&gt; 优先GNN(成本低)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需要语义泛化、多模态 -&gt; 优先LLM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二者互补场景 -&gt; 先串联验证价值，再考虑并联端到端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场景1：学术论文推荐系统（引用图+摘要文本）-&gt; 如何设计GNN+LLM方案？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场景2：医疗知识图谱问答 -&gt; GraphRAG vs G-Retriever，哪个更适合？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场景3：社交网络谣言检测 -&gt; 仅靠LLM文本判断 vs GNN传播结构，性能差距？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总结与作业（15分钟）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6 环节 · 共 4 个要点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总结与作业（15分钟）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GraphRAG = LLM构图 + 图算法检索 + LLM生成（三段式）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MASPOB = UCB Bandit + GNN拓扑建模 + 坐标上升分解（三层设计）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GNN优势场景：结构信息显著、关系多跳推理、低推理成本要求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L01-L04课程主线：GNN基础 -&gt; 注意力机制 -&gt; 与LLM融合 -&gt; 实际应用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📊 教学内容分布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508760"/>
          <a:ext cx="1017727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4C4D7"/>
                </a:solidFill>
                <a:latin typeface="等线"/>
              </a:defRPr>
            </a:pPr>
            <a:r>
              <a:t>图神经网络与大语言模型 - GNN与LLM联合应用：GraphRAG、提示优化与结构增强文本理解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